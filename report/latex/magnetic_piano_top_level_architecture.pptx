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00" d="100"/>
          <a:sy n="100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6307BCE-FD6B-4944-995D-3FE04B86353D}"/>
              </a:ext>
            </a:extLst>
          </p:cNvPr>
          <p:cNvSpPr>
            <a:spLocks noGrp="1"/>
          </p:cNvSpPr>
          <p:nvPr/>
        </p:nvSpPr>
        <p:spPr>
          <a:xfrm>
            <a:off x="2565776" y="464242"/>
            <a:ext cx="9656321" cy="6286500"/>
          </a:xfrm>
          <a:prstGeom prst="roundRect">
            <a:avLst>
              <a:gd name="adj" fmla="val 758"/>
            </a:avLst>
          </a:prstGeom>
          <a:noFill/>
          <a:ln w="1809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5E65927F-8F1D-4FF6-8716-20EE5918E167}"/>
              </a:ext>
            </a:extLst>
          </p:cNvPr>
          <p:cNvSpPr>
            <a:spLocks noGrp="1"/>
          </p:cNvSpPr>
          <p:nvPr/>
        </p:nvSpPr>
        <p:spPr>
          <a:xfrm>
            <a:off x="857250" y="57150"/>
            <a:ext cx="1352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Top-level System Architecture - Magnetic Piano (75Hz / 45Hz Detection &amp; Auto-Tracking Platform)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88F2D8C-0F47-4F90-997C-FF6FAB6656CE}"/>
              </a:ext>
            </a:extLst>
          </p:cNvPr>
          <p:cNvSpPr>
            <a:spLocks noGrp="1"/>
          </p:cNvSpPr>
          <p:nvPr/>
        </p:nvSpPr>
        <p:spPr>
          <a:xfrm>
            <a:off x="114300" y="1042115"/>
            <a:ext cx="2339571" cy="1123951"/>
          </a:xfrm>
          <a:prstGeom prst="roundRect">
            <a:avLst>
              <a:gd name="adj" fmla="val 2439"/>
            </a:avLst>
          </a:prstGeom>
          <a:solidFill>
            <a:srgbClr val="F8FBFF"/>
          </a:solidFill>
          <a:ln w="1333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0233AC-9B08-45BF-A01C-03FCFF3B5922}"/>
              </a:ext>
            </a:extLst>
          </p:cNvPr>
          <p:cNvSpPr>
            <a:spLocks noGrp="1"/>
          </p:cNvSpPr>
          <p:nvPr/>
        </p:nvSpPr>
        <p:spPr>
          <a:xfrm>
            <a:off x="418339" y="1100225"/>
            <a:ext cx="18573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5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QMC5883P Magnetometers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516BFD-2C1B-4051-A42A-950A6144442C}"/>
              </a:ext>
            </a:extLst>
          </p:cNvPr>
          <p:cNvSpPr>
            <a:spLocks noGrp="1"/>
          </p:cNvSpPr>
          <p:nvPr/>
        </p:nvSpPr>
        <p:spPr>
          <a:xfrm>
            <a:off x="915583" y="1455805"/>
            <a:ext cx="158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3-axis magnetic sensors</a:t>
            </a:r>
          </a:p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I2C-line interface (GPIO)</a:t>
            </a:r>
          </a:p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rate: 200 Hz</a:t>
            </a:r>
          </a:p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Output: 16-bit raw X, Y, Z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F00B943-CFA0-4A03-9D14-C0089C219D3E}"/>
              </a:ext>
            </a:extLst>
          </p:cNvPr>
          <p:cNvSpPr>
            <a:spLocks noGrp="1"/>
          </p:cNvSpPr>
          <p:nvPr/>
        </p:nvSpPr>
        <p:spPr>
          <a:xfrm>
            <a:off x="83345" y="3671239"/>
            <a:ext cx="1902308" cy="1571625"/>
          </a:xfrm>
          <a:prstGeom prst="roundRect">
            <a:avLst>
              <a:gd name="adj" fmla="val 3030"/>
            </a:avLst>
          </a:prstGeom>
          <a:solidFill>
            <a:srgbClr val="F4FFF6"/>
          </a:solidFill>
          <a:ln w="1333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E264F1-A79E-480E-B564-C87F68F9AC8D}"/>
              </a:ext>
            </a:extLst>
          </p:cNvPr>
          <p:cNvSpPr>
            <a:spLocks noGrp="1"/>
          </p:cNvSpPr>
          <p:nvPr/>
        </p:nvSpPr>
        <p:spPr>
          <a:xfrm>
            <a:off x="130969" y="3718864"/>
            <a:ext cx="18573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4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Press Buttons (Active-High)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0BCCF40-3C15-4D5F-84C5-4630DC087E7B}"/>
              </a:ext>
            </a:extLst>
          </p:cNvPr>
          <p:cNvSpPr>
            <a:spLocks noGrp="1"/>
          </p:cNvSpPr>
          <p:nvPr/>
        </p:nvSpPr>
        <p:spPr>
          <a:xfrm>
            <a:off x="216694" y="4052239"/>
            <a:ext cx="1657350" cy="48577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8573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2B77C6A-7AD8-4BD7-9ACE-0A6DC9772ED8}"/>
              </a:ext>
            </a:extLst>
          </p:cNvPr>
          <p:cNvSpPr>
            <a:spLocks noGrp="1"/>
          </p:cNvSpPr>
          <p:nvPr/>
        </p:nvSpPr>
        <p:spPr>
          <a:xfrm>
            <a:off x="750094" y="4059510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Button 0 </a:t>
            </a:r>
            <a:r>
              <a:rPr lang="en-US" altLang="zh-TW"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–</a:t>
            </a:r>
            <a:endParaRPr lang="en-US"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75Hz Note</a:t>
            </a:r>
          </a:p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GPIO[11]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2E7D0366-04EC-479F-918C-ED4B22FD351E}"/>
              </a:ext>
            </a:extLst>
          </p:cNvPr>
          <p:cNvSpPr>
            <a:spLocks noGrp="1"/>
          </p:cNvSpPr>
          <p:nvPr/>
        </p:nvSpPr>
        <p:spPr>
          <a:xfrm>
            <a:off x="216694" y="4595164"/>
            <a:ext cx="1657350" cy="485775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8573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ACB5094-49DC-4A1B-AEFB-7B02109A16FD}"/>
              </a:ext>
            </a:extLst>
          </p:cNvPr>
          <p:cNvSpPr>
            <a:spLocks noGrp="1"/>
          </p:cNvSpPr>
          <p:nvPr/>
        </p:nvSpPr>
        <p:spPr>
          <a:xfrm>
            <a:off x="369094" y="4709464"/>
            <a:ext cx="247650" cy="247650"/>
          </a:xfrm>
          <a:prstGeom prst="ellipse">
            <a:avLst/>
          </a:prstGeom>
          <a:solidFill>
            <a:srgbClr val="111827"/>
          </a:solidFill>
          <a:ln w="762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A10B05-DEDA-4DAB-BD86-EBC8A83BF1E3}"/>
              </a:ext>
            </a:extLst>
          </p:cNvPr>
          <p:cNvSpPr>
            <a:spLocks noGrp="1"/>
          </p:cNvSpPr>
          <p:nvPr/>
        </p:nvSpPr>
        <p:spPr>
          <a:xfrm>
            <a:off x="769144" y="4604689"/>
            <a:ext cx="99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Button 1 </a:t>
            </a:r>
            <a:r>
              <a:rPr lang="en-US" altLang="zh-TW"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–</a:t>
            </a:r>
            <a:endParaRPr lang="en-US" sz="900" b="1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 45Hz Note</a:t>
            </a:r>
          </a:p>
          <a:p>
            <a:pPr algn="l">
              <a:defRPr sz="45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-&gt; GPIO[12]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C1A398-CE2C-4C4D-8C95-776A49448C45}"/>
              </a:ext>
            </a:extLst>
          </p:cNvPr>
          <p:cNvSpPr>
            <a:spLocks noGrp="1"/>
          </p:cNvSpPr>
          <p:nvPr/>
        </p:nvSpPr>
        <p:spPr>
          <a:xfrm>
            <a:off x="216694" y="5272059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Debounced (10 ms)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Sent to PC as press state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2D1E2CB-315E-4881-B425-BD90BB5268C0}"/>
              </a:ext>
            </a:extLst>
          </p:cNvPr>
          <p:cNvSpPr>
            <a:spLocks noGrp="1"/>
          </p:cNvSpPr>
          <p:nvPr/>
        </p:nvSpPr>
        <p:spPr>
          <a:xfrm>
            <a:off x="2571750" y="495300"/>
            <a:ext cx="10172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FPGA (Intel DE2-115)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E2B0695-FA50-4BCD-B195-4530D0F92DFD}"/>
              </a:ext>
            </a:extLst>
          </p:cNvPr>
          <p:cNvSpPr>
            <a:spLocks noGrp="1"/>
          </p:cNvSpPr>
          <p:nvPr/>
        </p:nvSpPr>
        <p:spPr>
          <a:xfrm>
            <a:off x="2714625" y="742950"/>
            <a:ext cx="2647950" cy="1714500"/>
          </a:xfrm>
          <a:prstGeom prst="roundRect">
            <a:avLst>
              <a:gd name="adj" fmla="val 2778"/>
            </a:avLst>
          </a:prstGeom>
          <a:solidFill>
            <a:srgbClr val="F8FBFF"/>
          </a:solidFill>
          <a:ln w="1333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98C55A-6661-4157-9FF9-5BC17338DA97}"/>
              </a:ext>
            </a:extLst>
          </p:cNvPr>
          <p:cNvSpPr>
            <a:spLocks noGrp="1"/>
          </p:cNvSpPr>
          <p:nvPr/>
        </p:nvSpPr>
        <p:spPr>
          <a:xfrm>
            <a:off x="2762250" y="790575"/>
            <a:ext cx="2647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 Sensor Readout (I2C)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F540A06D-E06B-4C2C-ABF5-C61F029161B6}"/>
              </a:ext>
            </a:extLst>
          </p:cNvPr>
          <p:cNvSpPr>
            <a:spLocks noGrp="1"/>
          </p:cNvSpPr>
          <p:nvPr/>
        </p:nvSpPr>
        <p:spPr>
          <a:xfrm>
            <a:off x="2772959" y="1202264"/>
            <a:ext cx="136207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5AD76B-C3B8-44C2-8D94-76DE52F46E05}"/>
              </a:ext>
            </a:extLst>
          </p:cNvPr>
          <p:cNvSpPr>
            <a:spLocks noGrp="1"/>
          </p:cNvSpPr>
          <p:nvPr/>
        </p:nvSpPr>
        <p:spPr>
          <a:xfrm>
            <a:off x="2757487" y="1197348"/>
            <a:ext cx="1438275" cy="244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qmc5883p_ctrl (x3)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F6913EF-1710-439A-B48D-45AC78BC588E}"/>
              </a:ext>
            </a:extLst>
          </p:cNvPr>
          <p:cNvSpPr>
            <a:spLocks noGrp="1"/>
          </p:cNvSpPr>
          <p:nvPr/>
        </p:nvSpPr>
        <p:spPr>
          <a:xfrm>
            <a:off x="2857500" y="1393834"/>
            <a:ext cx="1948905" cy="457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 &amp; register config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Periodic readout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assembly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5AF5B668-7FDD-4F16-B5C1-9502C8819108}"/>
              </a:ext>
            </a:extLst>
          </p:cNvPr>
          <p:cNvSpPr>
            <a:spLocks noGrp="1"/>
          </p:cNvSpPr>
          <p:nvPr/>
        </p:nvSpPr>
        <p:spPr>
          <a:xfrm>
            <a:off x="4333875" y="1066800"/>
            <a:ext cx="933450" cy="990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C149AB-D11A-42CB-8D9C-8F78BFA13FAB}"/>
              </a:ext>
            </a:extLst>
          </p:cNvPr>
          <p:cNvSpPr>
            <a:spLocks noGrp="1"/>
          </p:cNvSpPr>
          <p:nvPr/>
        </p:nvSpPr>
        <p:spPr>
          <a:xfrm>
            <a:off x="4371975" y="1104900"/>
            <a:ext cx="8572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Raw Data Outputs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DAD22C-C5A7-4248-BEE7-B95FDB2BE2E0}"/>
              </a:ext>
            </a:extLst>
          </p:cNvPr>
          <p:cNvSpPr>
            <a:spLocks noGrp="1"/>
          </p:cNvSpPr>
          <p:nvPr/>
        </p:nvSpPr>
        <p:spPr>
          <a:xfrm>
            <a:off x="4390548" y="1455805"/>
            <a:ext cx="837158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mag1_x/y/z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mag2_x/y/z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mag3_x/y/z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79A9FAA2-09CA-4FCB-8EC5-23F736813DA1}"/>
              </a:ext>
            </a:extLst>
          </p:cNvPr>
          <p:cNvSpPr>
            <a:spLocks noGrp="1"/>
          </p:cNvSpPr>
          <p:nvPr/>
        </p:nvSpPr>
        <p:spPr>
          <a:xfrm>
            <a:off x="2834871" y="2028825"/>
            <a:ext cx="1238250" cy="32385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401B005-A208-435D-844D-DFAC6E045DF1}"/>
              </a:ext>
            </a:extLst>
          </p:cNvPr>
          <p:cNvSpPr>
            <a:spLocks noGrp="1"/>
          </p:cNvSpPr>
          <p:nvPr/>
        </p:nvSpPr>
        <p:spPr>
          <a:xfrm>
            <a:off x="2928938" y="2046450"/>
            <a:ext cx="1162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i2c_master (x3)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D3193565-FF4F-41AD-B4EA-4ECCE5CD4C20}"/>
              </a:ext>
            </a:extLst>
          </p:cNvPr>
          <p:cNvSpPr>
            <a:spLocks noGrp="1"/>
          </p:cNvSpPr>
          <p:nvPr/>
        </p:nvSpPr>
        <p:spPr>
          <a:xfrm>
            <a:off x="5710238" y="742950"/>
            <a:ext cx="2595562" cy="1714500"/>
          </a:xfrm>
          <a:prstGeom prst="roundRect">
            <a:avLst>
              <a:gd name="adj" fmla="val 2778"/>
            </a:avLst>
          </a:prstGeom>
          <a:solidFill>
            <a:srgbClr val="F4FFF6"/>
          </a:solidFill>
          <a:ln w="1333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B03BC86-7B39-4288-906B-EAE548EA6F60}"/>
              </a:ext>
            </a:extLst>
          </p:cNvPr>
          <p:cNvSpPr>
            <a:spLocks noGrp="1"/>
          </p:cNvSpPr>
          <p:nvPr/>
        </p:nvSpPr>
        <p:spPr>
          <a:xfrm>
            <a:off x="5686425" y="790575"/>
            <a:ext cx="2647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2. Calibration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07D94832-86C0-4ABE-A465-2090E41258FB}"/>
              </a:ext>
            </a:extLst>
          </p:cNvPr>
          <p:cNvSpPr>
            <a:spLocks noGrp="1"/>
          </p:cNvSpPr>
          <p:nvPr/>
        </p:nvSpPr>
        <p:spPr>
          <a:xfrm>
            <a:off x="5791200" y="1142777"/>
            <a:ext cx="137160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8573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42CA8F0-62D4-4F09-B04E-AFD5E3652107}"/>
              </a:ext>
            </a:extLst>
          </p:cNvPr>
          <p:cNvSpPr>
            <a:spLocks noGrp="1"/>
          </p:cNvSpPr>
          <p:nvPr/>
        </p:nvSpPr>
        <p:spPr>
          <a:xfrm>
            <a:off x="5829300" y="1143000"/>
            <a:ext cx="12954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mag_calibration_manager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8FEA05-FD68-4347-B2B1-35AD41503CF2}"/>
              </a:ext>
            </a:extLst>
          </p:cNvPr>
          <p:cNvSpPr>
            <a:spLocks noGrp="1"/>
          </p:cNvSpPr>
          <p:nvPr/>
        </p:nvSpPr>
        <p:spPr>
          <a:xfrm>
            <a:off x="5848350" y="15049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Compute offset &amp; radius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8A8280B1-EB72-4086-A108-FE1426DAA456}"/>
              </a:ext>
            </a:extLst>
          </p:cNvPr>
          <p:cNvSpPr>
            <a:spLocks noGrp="1"/>
          </p:cNvSpPr>
          <p:nvPr/>
        </p:nvSpPr>
        <p:spPr>
          <a:xfrm>
            <a:off x="5791200" y="2019300"/>
            <a:ext cx="1371600" cy="2857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573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6E4795-FA2C-4065-B244-EBC00559F273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12954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unsigned_divider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78A225-F8D2-4360-B468-4F752C675F6D}"/>
              </a:ext>
            </a:extLst>
          </p:cNvPr>
          <p:cNvSpPr>
            <a:spLocks noGrp="1"/>
          </p:cNvSpPr>
          <p:nvPr/>
        </p:nvSpPr>
        <p:spPr>
          <a:xfrm>
            <a:off x="5733008" y="2247900"/>
            <a:ext cx="163458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(for average &amp; scale calc)</a:t>
            </a: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19FD19B3-3861-4AE1-B1D9-4414E58AE737}"/>
              </a:ext>
            </a:extLst>
          </p:cNvPr>
          <p:cNvSpPr>
            <a:spLocks noGrp="1"/>
          </p:cNvSpPr>
          <p:nvPr/>
        </p:nvSpPr>
        <p:spPr>
          <a:xfrm>
            <a:off x="7296150" y="1164867"/>
            <a:ext cx="99060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8573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522301A-D00D-448D-BC1D-130A653CAEB4}"/>
              </a:ext>
            </a:extLst>
          </p:cNvPr>
          <p:cNvSpPr>
            <a:spLocks noGrp="1"/>
          </p:cNvSpPr>
          <p:nvPr/>
        </p:nvSpPr>
        <p:spPr>
          <a:xfrm>
            <a:off x="7334250" y="1295399"/>
            <a:ext cx="9715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Calibration Coefficients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8B2F6A4B-7A27-4D15-A4F0-53583711132B}"/>
              </a:ext>
            </a:extLst>
          </p:cNvPr>
          <p:cNvSpPr>
            <a:spLocks noGrp="1"/>
          </p:cNvSpPr>
          <p:nvPr/>
        </p:nvSpPr>
        <p:spPr>
          <a:xfrm>
            <a:off x="8731025" y="742950"/>
            <a:ext cx="1585912" cy="1714500"/>
          </a:xfrm>
          <a:prstGeom prst="roundRect">
            <a:avLst>
              <a:gd name="adj" fmla="val 2778"/>
            </a:avLst>
          </a:prstGeom>
          <a:solidFill>
            <a:srgbClr val="FFF7ED"/>
          </a:solidFill>
          <a:ln w="1333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855E90A-59F0-48F9-9EDD-7CE2FFA79632}"/>
              </a:ext>
            </a:extLst>
          </p:cNvPr>
          <p:cNvSpPr>
            <a:spLocks noGrp="1"/>
          </p:cNvSpPr>
          <p:nvPr/>
        </p:nvSpPr>
        <p:spPr>
          <a:xfrm>
            <a:off x="8650062" y="790575"/>
            <a:ext cx="1619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3. Real-time Calibration</a:t>
            </a: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929572AA-65F9-4D4E-85B1-9B8AE0DAE662}"/>
              </a:ext>
            </a:extLst>
          </p:cNvPr>
          <p:cNvSpPr>
            <a:spLocks noGrp="1"/>
          </p:cNvSpPr>
          <p:nvPr/>
        </p:nvSpPr>
        <p:spPr>
          <a:xfrm>
            <a:off x="8773887" y="1208378"/>
            <a:ext cx="13525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573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474B213-CCDD-4E28-A667-345FA15FE672}"/>
              </a:ext>
            </a:extLst>
          </p:cNvPr>
          <p:cNvSpPr>
            <a:spLocks noGrp="1"/>
          </p:cNvSpPr>
          <p:nvPr/>
        </p:nvSpPr>
        <p:spPr>
          <a:xfrm>
            <a:off x="8821512" y="1257300"/>
            <a:ext cx="1276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mag_calibrator (x3)</a:t>
            </a: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62E187D3-3086-4E5F-97A7-07E35671647E}"/>
              </a:ext>
            </a:extLst>
          </p:cNvPr>
          <p:cNvSpPr>
            <a:spLocks noGrp="1"/>
          </p:cNvSpPr>
          <p:nvPr/>
        </p:nvSpPr>
        <p:spPr>
          <a:xfrm>
            <a:off x="8773887" y="1847850"/>
            <a:ext cx="13525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8573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2B6C8AA-4FDB-43FE-8616-ECE0A179E2F7}"/>
              </a:ext>
            </a:extLst>
          </p:cNvPr>
          <p:cNvSpPr>
            <a:spLocks noGrp="1"/>
          </p:cNvSpPr>
          <p:nvPr/>
        </p:nvSpPr>
        <p:spPr>
          <a:xfrm>
            <a:off x="8811987" y="1905000"/>
            <a:ext cx="12763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Calibrated Outputs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EB620A51-F677-469E-8802-F28651D2656C}"/>
              </a:ext>
            </a:extLst>
          </p:cNvPr>
          <p:cNvSpPr>
            <a:spLocks noGrp="1"/>
          </p:cNvSpPr>
          <p:nvPr/>
        </p:nvSpPr>
        <p:spPr>
          <a:xfrm>
            <a:off x="10477500" y="742950"/>
            <a:ext cx="952500" cy="17145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333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72B865-8FA6-437C-8DAE-7CA8ED6F08F8}"/>
              </a:ext>
            </a:extLst>
          </p:cNvPr>
          <p:cNvSpPr>
            <a:spLocks noGrp="1"/>
          </p:cNvSpPr>
          <p:nvPr/>
        </p:nvSpPr>
        <p:spPr>
          <a:xfrm>
            <a:off x="10248900" y="714375"/>
            <a:ext cx="14097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4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Sample Sync</a:t>
            </a:r>
          </a:p>
          <a:p>
            <a:pPr algn="ctr">
              <a:defRPr sz="54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&amp; Tick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BF47DE9B-7C1A-4A49-AF17-AA32EA4BF45A}"/>
              </a:ext>
            </a:extLst>
          </p:cNvPr>
          <p:cNvSpPr>
            <a:spLocks noGrp="1"/>
          </p:cNvSpPr>
          <p:nvPr/>
        </p:nvSpPr>
        <p:spPr>
          <a:xfrm>
            <a:off x="10477501" y="1085850"/>
            <a:ext cx="95250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8DD590C-0CA9-4F82-A0E0-947FA4EAE8C5}"/>
              </a:ext>
            </a:extLst>
          </p:cNvPr>
          <p:cNvSpPr>
            <a:spLocks noGrp="1"/>
          </p:cNvSpPr>
          <p:nvPr/>
        </p:nvSpPr>
        <p:spPr>
          <a:xfrm>
            <a:off x="10288465" y="1114513"/>
            <a:ext cx="1409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0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sample_seen</a:t>
            </a:r>
          </a:p>
          <a:p>
            <a:pPr algn="ctr">
              <a:defRPr sz="40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C33F60FE-2BE3-4A8B-94F6-DA5203145C98}"/>
              </a:ext>
            </a:extLst>
          </p:cNvPr>
          <p:cNvSpPr>
            <a:spLocks noGrp="1"/>
          </p:cNvSpPr>
          <p:nvPr/>
        </p:nvSpPr>
        <p:spPr>
          <a:xfrm>
            <a:off x="10477500" y="1562100"/>
            <a:ext cx="952500" cy="4572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6E8373C-397E-4DF6-B619-A8EC3ACEEFFF}"/>
              </a:ext>
            </a:extLst>
          </p:cNvPr>
          <p:cNvSpPr>
            <a:spLocks noGrp="1"/>
          </p:cNvSpPr>
          <p:nvPr/>
        </p:nvSpPr>
        <p:spPr>
          <a:xfrm>
            <a:off x="10334625" y="152248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All active</a:t>
            </a:r>
          </a:p>
          <a:p>
            <a:pPr algn="ctr">
              <a:defRPr sz="39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sensors</a:t>
            </a:r>
          </a:p>
          <a:p>
            <a:pPr algn="ctr">
              <a:defRPr sz="39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updated?</a:t>
            </a: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213A6B65-E54A-49C4-B6DA-F895DE60C10D}"/>
              </a:ext>
            </a:extLst>
          </p:cNvPr>
          <p:cNvSpPr>
            <a:spLocks noGrp="1"/>
          </p:cNvSpPr>
          <p:nvPr/>
        </p:nvSpPr>
        <p:spPr>
          <a:xfrm>
            <a:off x="10477499" y="2095500"/>
            <a:ext cx="952500" cy="32385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5BE46D-06FC-477F-9479-48D74D312CF8}"/>
              </a:ext>
            </a:extLst>
          </p:cNvPr>
          <p:cNvSpPr>
            <a:spLocks noGrp="1"/>
          </p:cNvSpPr>
          <p:nvPr/>
        </p:nvSpPr>
        <p:spPr>
          <a:xfrm>
            <a:off x="10434638" y="2054246"/>
            <a:ext cx="1076325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carrier_</a:t>
            </a:r>
          </a:p>
          <a:p>
            <a:pPr algn="ctr">
              <a:defRPr sz="39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sample_tick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9140D510-A440-406E-A4D5-ACD0DBEA63B7}"/>
              </a:ext>
            </a:extLst>
          </p:cNvPr>
          <p:cNvSpPr>
            <a:spLocks noGrp="1"/>
          </p:cNvSpPr>
          <p:nvPr/>
        </p:nvSpPr>
        <p:spPr>
          <a:xfrm>
            <a:off x="11034713" y="2780920"/>
            <a:ext cx="952500" cy="66405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4441F11-A46D-4A66-87AF-5F5305087D80}"/>
              </a:ext>
            </a:extLst>
          </p:cNvPr>
          <p:cNvSpPr>
            <a:spLocks noGrp="1"/>
          </p:cNvSpPr>
          <p:nvPr/>
        </p:nvSpPr>
        <p:spPr>
          <a:xfrm>
            <a:off x="11084719" y="2841971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8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10. UART Streaming to PC</a:t>
            </a:r>
          </a:p>
        </p:txBody>
      </p:sp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B6240E17-08D8-4A50-903F-453E0B740656}"/>
              </a:ext>
            </a:extLst>
          </p:cNvPr>
          <p:cNvSpPr>
            <a:spLocks noGrp="1"/>
          </p:cNvSpPr>
          <p:nvPr/>
        </p:nvSpPr>
        <p:spPr>
          <a:xfrm>
            <a:off x="2714625" y="2781077"/>
            <a:ext cx="2571750" cy="1619250"/>
          </a:xfrm>
          <a:prstGeom prst="roundRect">
            <a:avLst>
              <a:gd name="adj" fmla="val 2941"/>
            </a:avLst>
          </a:prstGeom>
          <a:solidFill>
            <a:srgbClr val="FAF5FF"/>
          </a:solidFill>
          <a:ln w="1333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3EDAD6AF-B2F6-4530-9732-7F714A501CBC}"/>
              </a:ext>
            </a:extLst>
          </p:cNvPr>
          <p:cNvSpPr>
            <a:spLocks noGrp="1"/>
          </p:cNvSpPr>
          <p:nvPr/>
        </p:nvSpPr>
        <p:spPr>
          <a:xfrm>
            <a:off x="2762250" y="2790825"/>
            <a:ext cx="2476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/>
            <a:r>
              <a:rPr sz="1100" b="1">
                <a:solidFill>
                  <a:srgbClr val="7C3AED"/>
                </a:solidFill>
                <a:latin typeface="Aptos"/>
              </a:rPr>
              <a:t>4. Reference Generators</a:t>
            </a:r>
            <a:r>
              <a:rPr lang="en-US" altLang="zh-TW" sz="1100" b="1">
                <a:solidFill>
                  <a:srgbClr val="7C3AED"/>
                </a:solidFill>
                <a:latin typeface="Aptos"/>
              </a:rPr>
              <a:t>(Fs = 200 Hz)</a:t>
            </a:r>
          </a:p>
          <a:p>
            <a:pPr algn="ctr"/>
            <a:endParaRPr sz="1100" b="1">
              <a:solidFill>
                <a:srgbClr val="7C3AED"/>
              </a:solidFill>
              <a:latin typeface="Aptos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8917379B-369A-4327-A86A-4DD4A03B94E6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4775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9376BAB8-E9AB-4E41-AD88-33FFABF4A581}"/>
              </a:ext>
            </a:extLst>
          </p:cNvPr>
          <p:cNvSpPr>
            <a:spLocks noGrp="1"/>
          </p:cNvSpPr>
          <p:nvPr/>
        </p:nvSpPr>
        <p:spPr>
          <a:xfrm>
            <a:off x="2762250" y="3080798"/>
            <a:ext cx="1219200" cy="872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Reference-75hz</a:t>
            </a:r>
            <a:endParaRPr sz="1050" b="1">
              <a:solidFill>
                <a:srgbClr val="7C3AE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5A2E891-F6C3-48D8-A38D-49EA02FEAC2C}"/>
              </a:ext>
            </a:extLst>
          </p:cNvPr>
          <p:cNvSpPr>
            <a:spLocks noGrp="1"/>
          </p:cNvSpPr>
          <p:nvPr/>
        </p:nvSpPr>
        <p:spPr>
          <a:xfrm>
            <a:off x="2835576" y="3295650"/>
            <a:ext cx="11715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75 Hz = 3/8 cycle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8-entry LUT</a:t>
            </a: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3A68391F-C0C3-4F0D-8CD3-226C4D196D0D}"/>
              </a:ext>
            </a:extLst>
          </p:cNvPr>
          <p:cNvSpPr>
            <a:spLocks noGrp="1"/>
          </p:cNvSpPr>
          <p:nvPr/>
        </p:nvSpPr>
        <p:spPr>
          <a:xfrm>
            <a:off x="3981449" y="3105150"/>
            <a:ext cx="1181099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E19E6A6-6EB0-45B9-B551-B5E7566BCA8F}"/>
              </a:ext>
            </a:extLst>
          </p:cNvPr>
          <p:cNvSpPr>
            <a:spLocks noGrp="1"/>
          </p:cNvSpPr>
          <p:nvPr/>
        </p:nvSpPr>
        <p:spPr>
          <a:xfrm>
            <a:off x="4019550" y="3056676"/>
            <a:ext cx="11811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</a:t>
            </a: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eference_45hz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AD8AD7FA-7251-46A6-896A-65003C7D7A3E}"/>
              </a:ext>
            </a:extLst>
          </p:cNvPr>
          <p:cNvSpPr>
            <a:spLocks noGrp="1"/>
          </p:cNvSpPr>
          <p:nvPr/>
        </p:nvSpPr>
        <p:spPr>
          <a:xfrm>
            <a:off x="4038599" y="3276600"/>
            <a:ext cx="12477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45 Hz =9/40 cycle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40-entry LUT</a:t>
            </a:r>
          </a:p>
        </p:txBody>
      </p:sp>
      <p:sp>
        <p:nvSpPr>
          <p:cNvPr id="93" name="矩形: 圓角 92">
            <a:extLst>
              <a:ext uri="{FF2B5EF4-FFF2-40B4-BE49-F238E27FC236}">
                <a16:creationId xmlns:a16="http://schemas.microsoft.com/office/drawing/2014/main" id="{D283B17C-B317-4EBF-B319-4222B060BC10}"/>
              </a:ext>
            </a:extLst>
          </p:cNvPr>
          <p:cNvSpPr>
            <a:spLocks noGrp="1"/>
          </p:cNvSpPr>
          <p:nvPr/>
        </p:nvSpPr>
        <p:spPr>
          <a:xfrm>
            <a:off x="2876551" y="3905250"/>
            <a:ext cx="959600" cy="43815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7EA9326-B5B5-4C25-8E3B-DD139FB719BC}"/>
              </a:ext>
            </a:extLst>
          </p:cNvPr>
          <p:cNvSpPr>
            <a:spLocks noGrp="1"/>
          </p:cNvSpPr>
          <p:nvPr/>
        </p:nvSpPr>
        <p:spPr>
          <a:xfrm>
            <a:off x="2962275" y="3861405"/>
            <a:ext cx="78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2A7548B-0997-4845-B218-CA70B93BF582}"/>
              </a:ext>
            </a:extLst>
          </p:cNvPr>
          <p:cNvSpPr>
            <a:spLocks noGrp="1"/>
          </p:cNvSpPr>
          <p:nvPr/>
        </p:nvSpPr>
        <p:spPr>
          <a:xfrm>
            <a:off x="2962275" y="4009687"/>
            <a:ext cx="875173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sin75_q15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cos75_q15</a:t>
            </a:r>
          </a:p>
        </p:txBody>
      </p:sp>
      <p:sp>
        <p:nvSpPr>
          <p:cNvPr id="96" name="矩形: 圓角 95">
            <a:extLst>
              <a:ext uri="{FF2B5EF4-FFF2-40B4-BE49-F238E27FC236}">
                <a16:creationId xmlns:a16="http://schemas.microsoft.com/office/drawing/2014/main" id="{F7AE9693-C2F2-421F-BD47-3ABD0C265651}"/>
              </a:ext>
            </a:extLst>
          </p:cNvPr>
          <p:cNvSpPr>
            <a:spLocks noGrp="1"/>
          </p:cNvSpPr>
          <p:nvPr/>
        </p:nvSpPr>
        <p:spPr>
          <a:xfrm>
            <a:off x="4038600" y="3905250"/>
            <a:ext cx="1047750" cy="43815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573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760E9E1-693D-4131-B891-B43CCA5063CE}"/>
              </a:ext>
            </a:extLst>
          </p:cNvPr>
          <p:cNvSpPr>
            <a:spLocks noGrp="1"/>
          </p:cNvSpPr>
          <p:nvPr/>
        </p:nvSpPr>
        <p:spPr>
          <a:xfrm>
            <a:off x="4181473" y="3857460"/>
            <a:ext cx="781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4FED3E6-79A6-4227-918A-BD39996A8BCF}"/>
              </a:ext>
            </a:extLst>
          </p:cNvPr>
          <p:cNvSpPr>
            <a:spLocks noGrp="1"/>
          </p:cNvSpPr>
          <p:nvPr/>
        </p:nvSpPr>
        <p:spPr>
          <a:xfrm>
            <a:off x="4200527" y="3982634"/>
            <a:ext cx="1066798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</a:t>
            </a:r>
            <a:r>
              <a:rPr lang="en-US" altLang="zh-TW"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5_q15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cos45_q15</a:t>
            </a:r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424E35C7-0566-46AC-9E62-326DA979E116}"/>
              </a:ext>
            </a:extLst>
          </p:cNvPr>
          <p:cNvSpPr>
            <a:spLocks noGrp="1"/>
          </p:cNvSpPr>
          <p:nvPr/>
        </p:nvSpPr>
        <p:spPr>
          <a:xfrm>
            <a:off x="6492500" y="2842563"/>
            <a:ext cx="3676650" cy="1507767"/>
          </a:xfrm>
          <a:prstGeom prst="roundRect">
            <a:avLst>
              <a:gd name="adj" fmla="val 2941"/>
            </a:avLst>
          </a:prstGeom>
          <a:solidFill>
            <a:srgbClr val="F8FBFF"/>
          </a:solidFill>
          <a:ln w="1333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1710BF1-FD62-4419-8CF4-9A2253FBF06C}"/>
              </a:ext>
            </a:extLst>
          </p:cNvPr>
          <p:cNvSpPr>
            <a:spLocks noGrp="1"/>
          </p:cNvSpPr>
          <p:nvPr/>
        </p:nvSpPr>
        <p:spPr>
          <a:xfrm>
            <a:off x="6582987" y="2786205"/>
            <a:ext cx="3581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5. Lock-in Detection (Per-Sensor)</a:t>
            </a:r>
          </a:p>
        </p:txBody>
      </p:sp>
      <p:sp>
        <p:nvSpPr>
          <p:cNvPr id="101" name="矩形: 圓角 100">
            <a:extLst>
              <a:ext uri="{FF2B5EF4-FFF2-40B4-BE49-F238E27FC236}">
                <a16:creationId xmlns:a16="http://schemas.microsoft.com/office/drawing/2014/main" id="{D7D7C2BA-B300-490F-9B6D-B7512BAD563D}"/>
              </a:ext>
            </a:extLst>
          </p:cNvPr>
          <p:cNvSpPr>
            <a:spLocks noGrp="1"/>
          </p:cNvSpPr>
          <p:nvPr/>
        </p:nvSpPr>
        <p:spPr>
          <a:xfrm>
            <a:off x="6716337" y="3048223"/>
            <a:ext cx="1524000" cy="1271507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91F0436-41F7-42A6-A0F7-B837651395F1}"/>
              </a:ext>
            </a:extLst>
          </p:cNvPr>
          <p:cNvSpPr>
            <a:spLocks noGrp="1"/>
          </p:cNvSpPr>
          <p:nvPr/>
        </p:nvSpPr>
        <p:spPr>
          <a:xfrm>
            <a:off x="6754212" y="3026017"/>
            <a:ext cx="1447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mag_lockin_vector_75hz (x3)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6F9D567-9A25-4102-9C61-6B79177F16A1}"/>
              </a:ext>
            </a:extLst>
          </p:cNvPr>
          <p:cNvSpPr>
            <a:spLocks noGrp="1"/>
          </p:cNvSpPr>
          <p:nvPr/>
        </p:nvSpPr>
        <p:spPr>
          <a:xfrm>
            <a:off x="6713966" y="3325351"/>
            <a:ext cx="19240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Multiply with sin75/cos75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I/Q accumulation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H2 = X1^2 + Y1^2 + Z1^2</a:t>
            </a: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82384CAD-C8B7-41F3-B355-D5ABC2B77200}"/>
              </a:ext>
            </a:extLst>
          </p:cNvPr>
          <p:cNvSpPr>
            <a:spLocks noGrp="1"/>
          </p:cNvSpPr>
          <p:nvPr/>
        </p:nvSpPr>
        <p:spPr>
          <a:xfrm>
            <a:off x="8468937" y="3015254"/>
            <a:ext cx="1524000" cy="127792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89E86FE-D1C9-41A5-8AA1-33E5E237FD60}"/>
              </a:ext>
            </a:extLst>
          </p:cNvPr>
          <p:cNvSpPr>
            <a:spLocks noGrp="1"/>
          </p:cNvSpPr>
          <p:nvPr/>
        </p:nvSpPr>
        <p:spPr>
          <a:xfrm>
            <a:off x="8528680" y="3022798"/>
            <a:ext cx="1447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mag_lockin_vector_75hz (x3)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686484E-4AB2-4F5E-9A5D-975CCCF23C6D}"/>
              </a:ext>
            </a:extLst>
          </p:cNvPr>
          <p:cNvSpPr>
            <a:spLocks noGrp="1"/>
          </p:cNvSpPr>
          <p:nvPr/>
        </p:nvSpPr>
        <p:spPr>
          <a:xfrm>
            <a:off x="8477391" y="3333750"/>
            <a:ext cx="168446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Multiply with sin45/cos45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I/Q accumulation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H2 = X1^2 + Y1^2 + Z1^2</a:t>
            </a: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578C0C94-F23E-47DB-A034-9641A9F4EA68}"/>
              </a:ext>
            </a:extLst>
          </p:cNvPr>
          <p:cNvSpPr>
            <a:spLocks noGrp="1"/>
          </p:cNvSpPr>
          <p:nvPr/>
        </p:nvSpPr>
        <p:spPr>
          <a:xfrm>
            <a:off x="6735386" y="3903672"/>
            <a:ext cx="1466626" cy="3429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56D39B6-9AB7-4448-ADED-FEE3F86E24EA}"/>
              </a:ext>
            </a:extLst>
          </p:cNvPr>
          <p:cNvSpPr>
            <a:spLocks noGrp="1"/>
          </p:cNvSpPr>
          <p:nvPr/>
        </p:nvSpPr>
        <p:spPr>
          <a:xfrm>
            <a:off x="6963987" y="3860612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9706528-D7FF-4CB5-BC0E-6B9E8EF823FD}"/>
              </a:ext>
            </a:extLst>
          </p:cNvPr>
          <p:cNvSpPr>
            <a:spLocks noGrp="1"/>
          </p:cNvSpPr>
          <p:nvPr/>
        </p:nvSpPr>
        <p:spPr>
          <a:xfrm>
            <a:off x="6678237" y="4015717"/>
            <a:ext cx="1619250" cy="2211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H75_S1, H75_S2, H75_S3</a:t>
            </a:r>
          </a:p>
        </p:txBody>
      </p:sp>
      <p:sp>
        <p:nvSpPr>
          <p:cNvPr id="110" name="矩形: 圓角 109">
            <a:extLst>
              <a:ext uri="{FF2B5EF4-FFF2-40B4-BE49-F238E27FC236}">
                <a16:creationId xmlns:a16="http://schemas.microsoft.com/office/drawing/2014/main" id="{B2E57603-6B6F-43C3-BAFD-4C43CFDCBD0A}"/>
              </a:ext>
            </a:extLst>
          </p:cNvPr>
          <p:cNvSpPr>
            <a:spLocks noGrp="1"/>
          </p:cNvSpPr>
          <p:nvPr/>
        </p:nvSpPr>
        <p:spPr>
          <a:xfrm>
            <a:off x="8507262" y="3892854"/>
            <a:ext cx="1465216" cy="3429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8573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A9D36A0-1BC1-42C5-9D85-09D3FE1B3C06}"/>
              </a:ext>
            </a:extLst>
          </p:cNvPr>
          <p:cNvSpPr>
            <a:spLocks noGrp="1"/>
          </p:cNvSpPr>
          <p:nvPr/>
        </p:nvSpPr>
        <p:spPr>
          <a:xfrm>
            <a:off x="8716587" y="3849794"/>
            <a:ext cx="10668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392DCEE-AA5D-4F48-A7DA-D475740CA8C5}"/>
              </a:ext>
            </a:extLst>
          </p:cNvPr>
          <p:cNvSpPr>
            <a:spLocks noGrp="1"/>
          </p:cNvSpPr>
          <p:nvPr/>
        </p:nvSpPr>
        <p:spPr>
          <a:xfrm>
            <a:off x="8489199" y="4029414"/>
            <a:ext cx="1778751" cy="433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H45_S1,H45_</a:t>
            </a:r>
            <a:r>
              <a:rPr lang="en-US"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</a:t>
            </a: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  <a:r>
              <a:rPr lang="en-US"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H45_S3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593A33A3-D042-459E-9258-CDAD8B55240F}"/>
              </a:ext>
            </a:extLst>
          </p:cNvPr>
          <p:cNvSpPr>
            <a:spLocks noGrp="1"/>
          </p:cNvSpPr>
          <p:nvPr/>
        </p:nvSpPr>
        <p:spPr>
          <a:xfrm>
            <a:off x="2714625" y="4686300"/>
            <a:ext cx="2003463" cy="1619250"/>
          </a:xfrm>
          <a:prstGeom prst="roundRect">
            <a:avLst>
              <a:gd name="adj" fmla="val 2941"/>
            </a:avLst>
          </a:prstGeom>
          <a:solidFill>
            <a:srgbClr val="FFF7F7"/>
          </a:solidFill>
          <a:ln w="1333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6745BCD-BCC0-4AEA-B361-CAF262F9A683}"/>
              </a:ext>
            </a:extLst>
          </p:cNvPr>
          <p:cNvSpPr>
            <a:spLocks noGrp="1"/>
          </p:cNvSpPr>
          <p:nvPr/>
        </p:nvSpPr>
        <p:spPr>
          <a:xfrm>
            <a:off x="2751428" y="4809676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6. H2 Frame Averaging (Noise Smoothing)</a:t>
            </a:r>
          </a:p>
        </p:txBody>
      </p: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3EF0E6E4-02A0-4DE7-919C-2CCC67D2746A}"/>
              </a:ext>
            </a:extLst>
          </p:cNvPr>
          <p:cNvSpPr>
            <a:spLocks noGrp="1"/>
          </p:cNvSpPr>
          <p:nvPr/>
        </p:nvSpPr>
        <p:spPr>
          <a:xfrm>
            <a:off x="2776335" y="5364659"/>
            <a:ext cx="891236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8573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7B258F6-E1D1-4646-9F80-491DA5C8D004}"/>
              </a:ext>
            </a:extLst>
          </p:cNvPr>
          <p:cNvSpPr>
            <a:spLocks noGrp="1"/>
          </p:cNvSpPr>
          <p:nvPr/>
        </p:nvSpPr>
        <p:spPr>
          <a:xfrm>
            <a:off x="2753706" y="5446073"/>
            <a:ext cx="940551" cy="164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h2_average_3sensor</a:t>
            </a:r>
          </a:p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(for 75Hz)</a:t>
            </a:r>
          </a:p>
        </p:txBody>
      </p:sp>
      <p:sp>
        <p:nvSpPr>
          <p:cNvPr id="118" name="矩形: 圓角 117">
            <a:extLst>
              <a:ext uri="{FF2B5EF4-FFF2-40B4-BE49-F238E27FC236}">
                <a16:creationId xmlns:a16="http://schemas.microsoft.com/office/drawing/2014/main" id="{E6AF2161-AC4D-4B82-9D22-C622E01F0F89}"/>
              </a:ext>
            </a:extLst>
          </p:cNvPr>
          <p:cNvSpPr>
            <a:spLocks noGrp="1"/>
          </p:cNvSpPr>
          <p:nvPr/>
        </p:nvSpPr>
        <p:spPr>
          <a:xfrm>
            <a:off x="3766934" y="5364659"/>
            <a:ext cx="897041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8573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E3F6F87-1828-42B2-B121-37ADABBA4058}"/>
              </a:ext>
            </a:extLst>
          </p:cNvPr>
          <p:cNvSpPr>
            <a:spLocks noGrp="1"/>
          </p:cNvSpPr>
          <p:nvPr/>
        </p:nvSpPr>
        <p:spPr>
          <a:xfrm>
            <a:off x="3756198" y="5443509"/>
            <a:ext cx="961744" cy="226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h2_average_3sensor</a:t>
            </a:r>
          </a:p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(for 45Hz)</a:t>
            </a:r>
          </a:p>
        </p:txBody>
      </p:sp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40559E84-3F17-4BB9-B3AD-973046D92B2F}"/>
              </a:ext>
            </a:extLst>
          </p:cNvPr>
          <p:cNvSpPr>
            <a:spLocks noGrp="1"/>
          </p:cNvSpPr>
          <p:nvPr/>
        </p:nvSpPr>
        <p:spPr>
          <a:xfrm>
            <a:off x="5267325" y="4686300"/>
            <a:ext cx="2848652" cy="1619250"/>
          </a:xfrm>
          <a:prstGeom prst="roundRect">
            <a:avLst>
              <a:gd name="adj" fmla="val 2941"/>
            </a:avLst>
          </a:prstGeom>
          <a:solidFill>
            <a:srgbClr val="F0FDFA"/>
          </a:solidFill>
          <a:ln w="1333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023F096-49D4-43B8-A24F-F85342FC0EC0}"/>
              </a:ext>
            </a:extLst>
          </p:cNvPr>
          <p:cNvSpPr>
            <a:spLocks noGrp="1"/>
          </p:cNvSpPr>
          <p:nvPr/>
        </p:nvSpPr>
        <p:spPr>
          <a:xfrm>
            <a:off x="5143500" y="4733925"/>
            <a:ext cx="3048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7. LUT-based Classification (Per Frequency)</a:t>
            </a:r>
          </a:p>
        </p:txBody>
      </p:sp>
      <p:sp>
        <p:nvSpPr>
          <p:cNvPr id="129" name="矩形: 圓角 128">
            <a:extLst>
              <a:ext uri="{FF2B5EF4-FFF2-40B4-BE49-F238E27FC236}">
                <a16:creationId xmlns:a16="http://schemas.microsoft.com/office/drawing/2014/main" id="{77485E5A-E605-484E-9451-89B12168AC09}"/>
              </a:ext>
            </a:extLst>
          </p:cNvPr>
          <p:cNvSpPr>
            <a:spLocks noGrp="1"/>
          </p:cNvSpPr>
          <p:nvPr/>
        </p:nvSpPr>
        <p:spPr>
          <a:xfrm>
            <a:off x="5681661" y="4956263"/>
            <a:ext cx="2109789" cy="595065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573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A73677B-5E8F-494D-BA29-25AA4BE71458}"/>
              </a:ext>
            </a:extLst>
          </p:cNvPr>
          <p:cNvSpPr>
            <a:spLocks noGrp="1"/>
          </p:cNvSpPr>
          <p:nvPr/>
        </p:nvSpPr>
        <p:spPr>
          <a:xfrm>
            <a:off x="5733008" y="4975313"/>
            <a:ext cx="2000251" cy="295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h2_lut_classifier_3sensor 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5319624D-64FF-4572-948E-111195A70025}"/>
              </a:ext>
            </a:extLst>
          </p:cNvPr>
          <p:cNvSpPr>
            <a:spLocks noGrp="1"/>
          </p:cNvSpPr>
          <p:nvPr/>
        </p:nvSpPr>
        <p:spPr>
          <a:xfrm>
            <a:off x="6027326" y="5159951"/>
            <a:ext cx="1552350" cy="3939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Compute ratios</a:t>
            </a:r>
          </a:p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Compare with LUT ROM</a:t>
            </a:r>
          </a:p>
        </p:txBody>
      </p:sp>
      <p:sp>
        <p:nvSpPr>
          <p:cNvPr id="135" name="矩形: 圓角 134">
            <a:extLst>
              <a:ext uri="{FF2B5EF4-FFF2-40B4-BE49-F238E27FC236}">
                <a16:creationId xmlns:a16="http://schemas.microsoft.com/office/drawing/2014/main" id="{C4F2621E-0DC2-438C-B999-B013DB4C763D}"/>
              </a:ext>
            </a:extLst>
          </p:cNvPr>
          <p:cNvSpPr>
            <a:spLocks noGrp="1"/>
          </p:cNvSpPr>
          <p:nvPr/>
        </p:nvSpPr>
        <p:spPr>
          <a:xfrm>
            <a:off x="5796245" y="5615461"/>
            <a:ext cx="1915934" cy="228036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8573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C2220B6-B6FA-4269-950B-CEAE177A371E}"/>
              </a:ext>
            </a:extLst>
          </p:cNvPr>
          <p:cNvSpPr>
            <a:spLocks noGrp="1"/>
          </p:cNvSpPr>
          <p:nvPr/>
        </p:nvSpPr>
        <p:spPr>
          <a:xfrm>
            <a:off x="6023660" y="5588631"/>
            <a:ext cx="1423452" cy="1899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unsigned_divider</a:t>
            </a:r>
          </a:p>
        </p:txBody>
      </p:sp>
      <p:sp>
        <p:nvSpPr>
          <p:cNvPr id="138" name="矩形: 圓角 137">
            <a:extLst>
              <a:ext uri="{FF2B5EF4-FFF2-40B4-BE49-F238E27FC236}">
                <a16:creationId xmlns:a16="http://schemas.microsoft.com/office/drawing/2014/main" id="{404E8AE1-5D2C-4F89-9158-0DB02B86BFEE}"/>
              </a:ext>
            </a:extLst>
          </p:cNvPr>
          <p:cNvSpPr>
            <a:spLocks noGrp="1"/>
          </p:cNvSpPr>
          <p:nvPr/>
        </p:nvSpPr>
        <p:spPr>
          <a:xfrm>
            <a:off x="5524500" y="5892981"/>
            <a:ext cx="2407514" cy="3887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8573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E1EB91D2-A8DF-4BF6-B487-2E901019AEF6}"/>
              </a:ext>
            </a:extLst>
          </p:cNvPr>
          <p:cNvSpPr>
            <a:spLocks noGrp="1"/>
          </p:cNvSpPr>
          <p:nvPr/>
        </p:nvSpPr>
        <p:spPr>
          <a:xfrm>
            <a:off x="6249753" y="5841467"/>
            <a:ext cx="8001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7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487D2DF-9886-4E06-9B21-D4C3C7BE6FCD}"/>
              </a:ext>
            </a:extLst>
          </p:cNvPr>
          <p:cNvSpPr>
            <a:spLocks noGrp="1"/>
          </p:cNvSpPr>
          <p:nvPr/>
        </p:nvSpPr>
        <p:spPr>
          <a:xfrm>
            <a:off x="5741011" y="5948276"/>
            <a:ext cx="1964982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key75_id</a:t>
            </a:r>
            <a:r>
              <a:rPr lang="en-US"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key75_score</a:t>
            </a:r>
            <a:r>
              <a:rPr lang="en-US"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key75_valid</a:t>
            </a:r>
            <a:endParaRPr lang="en-US" sz="9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>
              <a:defRPr sz="31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altLang="zh-TW" sz="900">
                <a:solidFill>
                  <a:srgbClr val="111827"/>
                </a:solidFill>
                <a:latin typeface="Aptos"/>
                <a:ea typeface="Aptos"/>
                <a:cs typeface="Aptos"/>
              </a:rPr>
              <a:t>key45_id, key45_score, key45_valid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20981C7A-BEBB-4414-B62B-AFECBCC1E9BB}"/>
              </a:ext>
            </a:extLst>
          </p:cNvPr>
          <p:cNvSpPr>
            <a:spLocks noGrp="1"/>
          </p:cNvSpPr>
          <p:nvPr/>
        </p:nvSpPr>
        <p:spPr>
          <a:xfrm>
            <a:off x="6433452" y="6248400"/>
            <a:ext cx="1095375" cy="201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9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4" name="矩形: 圓角 143">
            <a:extLst>
              <a:ext uri="{FF2B5EF4-FFF2-40B4-BE49-F238E27FC236}">
                <a16:creationId xmlns:a16="http://schemas.microsoft.com/office/drawing/2014/main" id="{67072B61-461A-46F0-9D77-5C85F3075807}"/>
              </a:ext>
            </a:extLst>
          </p:cNvPr>
          <p:cNvSpPr>
            <a:spLocks noGrp="1"/>
          </p:cNvSpPr>
          <p:nvPr/>
        </p:nvSpPr>
        <p:spPr>
          <a:xfrm>
            <a:off x="8601074" y="4686300"/>
            <a:ext cx="1685925" cy="1633340"/>
          </a:xfrm>
          <a:prstGeom prst="roundRect">
            <a:avLst>
              <a:gd name="adj" fmla="val 2941"/>
            </a:avLst>
          </a:prstGeom>
          <a:solidFill>
            <a:srgbClr val="FFF7ED"/>
          </a:solidFill>
          <a:ln w="1333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3B6EBEB-A379-4A13-9E6F-525B245F7E27}"/>
              </a:ext>
            </a:extLst>
          </p:cNvPr>
          <p:cNvSpPr>
            <a:spLocks noGrp="1"/>
          </p:cNvSpPr>
          <p:nvPr/>
        </p:nvSpPr>
        <p:spPr>
          <a:xfrm>
            <a:off x="8524875" y="47339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8. Platform Tracker (Auto-Follow)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C9AA02B-E349-4C0C-A430-58163DB4B6E3}"/>
              </a:ext>
            </a:extLst>
          </p:cNvPr>
          <p:cNvSpPr>
            <a:spLocks noGrp="1"/>
          </p:cNvSpPr>
          <p:nvPr/>
        </p:nvSpPr>
        <p:spPr>
          <a:xfrm>
            <a:off x="8682038" y="5038131"/>
            <a:ext cx="17207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</a:t>
            </a:r>
          </a:p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sum &lt;= -2  -&gt; move left</a:t>
            </a:r>
          </a:p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sum &gt;= +2  -&gt; move right</a:t>
            </a:r>
          </a:p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otherwise  -&gt; stay</a:t>
            </a:r>
          </a:p>
          <a:p>
            <a:endParaRPr sz="1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Boundary check (K2 ~ K12)</a:t>
            </a:r>
          </a:p>
          <a:p>
            <a:pPr algn="l">
              <a:defRPr sz="386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 confirmation &amp; cooldown</a:t>
            </a:r>
          </a:p>
        </p:txBody>
      </p:sp>
      <p:sp>
        <p:nvSpPr>
          <p:cNvPr id="147" name="矩形: 圓角 146">
            <a:extLst>
              <a:ext uri="{FF2B5EF4-FFF2-40B4-BE49-F238E27FC236}">
                <a16:creationId xmlns:a16="http://schemas.microsoft.com/office/drawing/2014/main" id="{8ECF11A9-0824-4EA4-A537-E08D6831B735}"/>
              </a:ext>
            </a:extLst>
          </p:cNvPr>
          <p:cNvSpPr>
            <a:spLocks noGrp="1"/>
          </p:cNvSpPr>
          <p:nvPr/>
        </p:nvSpPr>
        <p:spPr>
          <a:xfrm>
            <a:off x="10496550" y="4691743"/>
            <a:ext cx="1619250" cy="1619250"/>
          </a:xfrm>
          <a:prstGeom prst="roundRect">
            <a:avLst>
              <a:gd name="adj" fmla="val 2941"/>
            </a:avLst>
          </a:prstGeom>
          <a:solidFill>
            <a:srgbClr val="FFF5F5"/>
          </a:solidFill>
          <a:ln w="1333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91DD204-476C-4BD5-BC47-7D93F5A87D12}"/>
              </a:ext>
            </a:extLst>
          </p:cNvPr>
          <p:cNvSpPr>
            <a:spLocks noGrp="1"/>
          </p:cNvSpPr>
          <p:nvPr/>
        </p:nvSpPr>
        <p:spPr>
          <a:xfrm>
            <a:off x="10544175" y="47339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4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9. Stepper Control (FPGA)</a:t>
            </a:r>
          </a:p>
        </p:txBody>
      </p:sp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8E96394E-F731-465F-B3A6-8B78C73C04B8}"/>
              </a:ext>
            </a:extLst>
          </p:cNvPr>
          <p:cNvSpPr>
            <a:spLocks noGrp="1"/>
          </p:cNvSpPr>
          <p:nvPr/>
        </p:nvSpPr>
        <p:spPr>
          <a:xfrm>
            <a:off x="10648950" y="5235734"/>
            <a:ext cx="1295400" cy="37576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573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EC76AB12-0640-4D59-A2DB-EA44F7178B97}"/>
              </a:ext>
            </a:extLst>
          </p:cNvPr>
          <p:cNvSpPr>
            <a:spLocks noGrp="1"/>
          </p:cNvSpPr>
          <p:nvPr/>
        </p:nvSpPr>
        <p:spPr>
          <a:xfrm>
            <a:off x="10672903" y="5200179"/>
            <a:ext cx="12192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stepper_drv8825_controller</a:t>
            </a:r>
          </a:p>
        </p:txBody>
      </p:sp>
      <p:sp>
        <p:nvSpPr>
          <p:cNvPr id="152" name="矩形: 圓角 151">
            <a:extLst>
              <a:ext uri="{FF2B5EF4-FFF2-40B4-BE49-F238E27FC236}">
                <a16:creationId xmlns:a16="http://schemas.microsoft.com/office/drawing/2014/main" id="{B3C7A914-FF5A-4CFB-BA24-027FBD3EFF0B}"/>
              </a:ext>
            </a:extLst>
          </p:cNvPr>
          <p:cNvSpPr>
            <a:spLocks noGrp="1"/>
          </p:cNvSpPr>
          <p:nvPr/>
        </p:nvSpPr>
        <p:spPr>
          <a:xfrm>
            <a:off x="10729912" y="5735944"/>
            <a:ext cx="1157287" cy="421379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8573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E73A45B5-363F-43E5-8E06-1CEEFDBFF288}"/>
              </a:ext>
            </a:extLst>
          </p:cNvPr>
          <p:cNvSpPr>
            <a:spLocks noGrp="1"/>
          </p:cNvSpPr>
          <p:nvPr/>
        </p:nvSpPr>
        <p:spPr>
          <a:xfrm>
            <a:off x="10782300" y="5735944"/>
            <a:ext cx="10477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Outputs</a:t>
            </a:r>
          </a:p>
          <a:p>
            <a:pPr algn="ctr">
              <a:defRPr sz="48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endParaRPr lang="en-US" sz="1050" b="1">
              <a:solidFill>
                <a:srgbClr val="EF444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6" name="矩形: 圓角 155">
            <a:extLst>
              <a:ext uri="{FF2B5EF4-FFF2-40B4-BE49-F238E27FC236}">
                <a16:creationId xmlns:a16="http://schemas.microsoft.com/office/drawing/2014/main" id="{6D8E0E5F-2ABB-4C74-82D4-A852C634A50C}"/>
              </a:ext>
            </a:extLst>
          </p:cNvPr>
          <p:cNvSpPr>
            <a:spLocks noGrp="1"/>
          </p:cNvSpPr>
          <p:nvPr/>
        </p:nvSpPr>
        <p:spPr>
          <a:xfrm>
            <a:off x="13142429" y="2107512"/>
            <a:ext cx="1771000" cy="2016813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D7FF690-5F68-4E7E-85B0-3492D85558E1}"/>
              </a:ext>
            </a:extLst>
          </p:cNvPr>
          <p:cNvSpPr>
            <a:spLocks noGrp="1"/>
          </p:cNvSpPr>
          <p:nvPr/>
        </p:nvSpPr>
        <p:spPr>
          <a:xfrm>
            <a:off x="13283554" y="2136194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5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PC (Windows)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3BE8241E-82CB-4B79-8B17-00D557BD2B99}"/>
              </a:ext>
            </a:extLst>
          </p:cNvPr>
          <p:cNvSpPr>
            <a:spLocks noGrp="1"/>
          </p:cNvSpPr>
          <p:nvPr/>
        </p:nvSpPr>
        <p:spPr>
          <a:xfrm>
            <a:off x="13245454" y="2936294"/>
            <a:ext cx="170063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 Application</a:t>
            </a:r>
          </a:p>
          <a:p>
            <a:endParaRPr sz="1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40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Receive via UART</a:t>
            </a:r>
          </a:p>
          <a:p>
            <a:pPr algn="l">
              <a:defRPr sz="40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LUT Collection</a:t>
            </a:r>
          </a:p>
          <a:p>
            <a:pPr algn="l">
              <a:defRPr sz="40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Piano Key Monitor</a:t>
            </a:r>
          </a:p>
          <a:p>
            <a:endParaRPr sz="1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40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(H2 Frames &amp; KEY Frames)</a:t>
            </a:r>
          </a:p>
        </p:txBody>
      </p:sp>
      <p:sp>
        <p:nvSpPr>
          <p:cNvPr id="160" name="矩形: 圓角 159">
            <a:extLst>
              <a:ext uri="{FF2B5EF4-FFF2-40B4-BE49-F238E27FC236}">
                <a16:creationId xmlns:a16="http://schemas.microsoft.com/office/drawing/2014/main" id="{CDC95330-F92B-4D95-A6F3-B00D7F93C130}"/>
              </a:ext>
            </a:extLst>
          </p:cNvPr>
          <p:cNvSpPr>
            <a:spLocks noGrp="1"/>
          </p:cNvSpPr>
          <p:nvPr/>
        </p:nvSpPr>
        <p:spPr>
          <a:xfrm>
            <a:off x="13103637" y="4980721"/>
            <a:ext cx="1619250" cy="1038225"/>
          </a:xfrm>
          <a:prstGeom prst="roundRect">
            <a:avLst>
              <a:gd name="adj" fmla="val 5682"/>
            </a:avLst>
          </a:prstGeom>
          <a:solidFill>
            <a:srgbClr val="FAF5FF"/>
          </a:solidFill>
          <a:ln w="1333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2FFDE01-6CD5-45CA-9A4A-7BF5D10337DE}"/>
              </a:ext>
            </a:extLst>
          </p:cNvPr>
          <p:cNvSpPr>
            <a:spLocks noGrp="1"/>
          </p:cNvSpPr>
          <p:nvPr/>
        </p:nvSpPr>
        <p:spPr>
          <a:xfrm>
            <a:off x="13167495" y="5009716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DRV8825</a:t>
            </a:r>
          </a:p>
          <a:p>
            <a:pPr algn="ctr">
              <a:defRPr sz="5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Stepper Driver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A10F254-C087-4D1B-AA25-0C31D90FDC50}"/>
              </a:ext>
            </a:extLst>
          </p:cNvPr>
          <p:cNvSpPr>
            <a:spLocks noGrp="1"/>
          </p:cNvSpPr>
          <p:nvPr/>
        </p:nvSpPr>
        <p:spPr>
          <a:xfrm>
            <a:off x="13396095" y="5342894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Microstep (1/16)</a:t>
            </a:r>
          </a:p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VMOT / GND</a:t>
            </a:r>
          </a:p>
          <a:p>
            <a:pPr algn="l">
              <a:defRPr sz="4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A1/A2, B1/B2</a:t>
            </a:r>
          </a:p>
        </p:txBody>
      </p:sp>
      <p:sp>
        <p:nvSpPr>
          <p:cNvPr id="163" name="矩形: 圓角 162">
            <a:extLst>
              <a:ext uri="{FF2B5EF4-FFF2-40B4-BE49-F238E27FC236}">
                <a16:creationId xmlns:a16="http://schemas.microsoft.com/office/drawing/2014/main" id="{469766C9-A7F2-4236-99C3-3825DB882433}"/>
              </a:ext>
            </a:extLst>
          </p:cNvPr>
          <p:cNvSpPr>
            <a:spLocks noGrp="1"/>
          </p:cNvSpPr>
          <p:nvPr/>
        </p:nvSpPr>
        <p:spPr>
          <a:xfrm>
            <a:off x="13099459" y="6197419"/>
            <a:ext cx="1619250" cy="666750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333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7FACB1F8-201A-43C5-9EFD-B87F61DBB11F}"/>
              </a:ext>
            </a:extLst>
          </p:cNvPr>
          <p:cNvSpPr>
            <a:spLocks noGrp="1"/>
          </p:cNvSpPr>
          <p:nvPr/>
        </p:nvSpPr>
        <p:spPr>
          <a:xfrm>
            <a:off x="13152495" y="6315382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Stepper Motor</a:t>
            </a:r>
          </a:p>
          <a:p>
            <a:pPr algn="ctr">
              <a:defRPr sz="5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(NEMA17)</a:t>
            </a: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2AFAB4D9-60BF-4C53-AE62-443B03290FEF}"/>
              </a:ext>
            </a:extLst>
          </p:cNvPr>
          <p:cNvSpPr>
            <a:spLocks noGrp="1"/>
          </p:cNvSpPr>
          <p:nvPr/>
        </p:nvSpPr>
        <p:spPr>
          <a:xfrm>
            <a:off x="13099459" y="7041060"/>
            <a:ext cx="1619250" cy="876300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4DA35618-5B95-480D-BD4B-99177500C689}"/>
              </a:ext>
            </a:extLst>
          </p:cNvPr>
          <p:cNvSpPr>
            <a:spLocks noGrp="1"/>
          </p:cNvSpPr>
          <p:nvPr/>
        </p:nvSpPr>
        <p:spPr>
          <a:xfrm>
            <a:off x="13147084" y="708868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Sliding Platform / Bottom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F501C86-4FF3-4FBC-B791-DBF24EA64730}"/>
              </a:ext>
            </a:extLst>
          </p:cNvPr>
          <p:cNvSpPr>
            <a:spLocks noGrp="1"/>
          </p:cNvSpPr>
          <p:nvPr/>
        </p:nvSpPr>
        <p:spPr>
          <a:xfrm>
            <a:off x="13279588" y="7497584"/>
            <a:ext cx="1643372" cy="1149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Moves Left &lt;-&gt; Right</a:t>
            </a:r>
          </a:p>
        </p:txBody>
      </p:sp>
      <p:sp>
        <p:nvSpPr>
          <p:cNvPr id="168" name="矩形: 圓角 167">
            <a:extLst>
              <a:ext uri="{FF2B5EF4-FFF2-40B4-BE49-F238E27FC236}">
                <a16:creationId xmlns:a16="http://schemas.microsoft.com/office/drawing/2014/main" id="{BF690A80-7E57-41E0-89FC-E49CB1435C75}"/>
              </a:ext>
            </a:extLst>
          </p:cNvPr>
          <p:cNvSpPr>
            <a:spLocks noGrp="1"/>
          </p:cNvSpPr>
          <p:nvPr/>
        </p:nvSpPr>
        <p:spPr>
          <a:xfrm>
            <a:off x="190500" y="6840639"/>
            <a:ext cx="3450771" cy="1066800"/>
          </a:xfrm>
          <a:prstGeom prst="roundRect">
            <a:avLst>
              <a:gd name="adj" fmla="val 4464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06AF9EE2-75C0-4A6A-990E-2FFF498CB014}"/>
              </a:ext>
            </a:extLst>
          </p:cNvPr>
          <p:cNvSpPr>
            <a:spLocks noGrp="1"/>
          </p:cNvSpPr>
          <p:nvPr/>
        </p:nvSpPr>
        <p:spPr>
          <a:xfrm>
            <a:off x="238125" y="6888264"/>
            <a:ext cx="42386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0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Display &amp; Debug (On FPGA)</a:t>
            </a:r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3D007F6A-1100-4C20-BFF7-1253D2511764}"/>
              </a:ext>
            </a:extLst>
          </p:cNvPr>
          <p:cNvSpPr>
            <a:spLocks noGrp="1"/>
          </p:cNvSpPr>
          <p:nvPr/>
        </p:nvSpPr>
        <p:spPr>
          <a:xfrm>
            <a:off x="342900" y="7126389"/>
            <a:ext cx="6286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837540F-6F89-4772-96B1-FD1854DFBEA5}"/>
              </a:ext>
            </a:extLst>
          </p:cNvPr>
          <p:cNvSpPr>
            <a:spLocks noGrp="1"/>
          </p:cNvSpPr>
          <p:nvPr/>
        </p:nvSpPr>
        <p:spPr>
          <a:xfrm>
            <a:off x="495300" y="7202589"/>
            <a:ext cx="323850" cy="209550"/>
          </a:xfrm>
          <a:prstGeom prst="rect">
            <a:avLst/>
          </a:prstGeom>
          <a:solidFill>
            <a:srgbClr val="1F2937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57E8E482-C933-47EE-B7FE-10B5EFCA1044}"/>
              </a:ext>
            </a:extLst>
          </p:cNvPr>
          <p:cNvSpPr>
            <a:spLocks noGrp="1"/>
          </p:cNvSpPr>
          <p:nvPr/>
        </p:nvSpPr>
        <p:spPr>
          <a:xfrm>
            <a:off x="381000" y="7450239"/>
            <a:ext cx="5524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VGA</a:t>
            </a:r>
          </a:p>
        </p:txBody>
      </p:sp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BF9415A8-130A-48B5-B820-97C2455FEF60}"/>
              </a:ext>
            </a:extLst>
          </p:cNvPr>
          <p:cNvSpPr>
            <a:spLocks noGrp="1"/>
          </p:cNvSpPr>
          <p:nvPr/>
        </p:nvSpPr>
        <p:spPr>
          <a:xfrm>
            <a:off x="1066800" y="7126389"/>
            <a:ext cx="6286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38981DC2-0D10-4A0A-B4DB-DC571D4FCC1F}"/>
              </a:ext>
            </a:extLst>
          </p:cNvPr>
          <p:cNvSpPr>
            <a:spLocks noGrp="1"/>
          </p:cNvSpPr>
          <p:nvPr/>
        </p:nvSpPr>
        <p:spPr>
          <a:xfrm>
            <a:off x="1219200" y="7202589"/>
            <a:ext cx="323850" cy="209550"/>
          </a:xfrm>
          <a:prstGeom prst="rect">
            <a:avLst/>
          </a:prstGeom>
          <a:solidFill>
            <a:srgbClr val="16A34A"/>
          </a:solidFill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9420EA8F-FE82-44E0-BEA9-8AA82264F256}"/>
              </a:ext>
            </a:extLst>
          </p:cNvPr>
          <p:cNvSpPr>
            <a:spLocks noGrp="1"/>
          </p:cNvSpPr>
          <p:nvPr/>
        </p:nvSpPr>
        <p:spPr>
          <a:xfrm>
            <a:off x="1109662" y="7387509"/>
            <a:ext cx="5524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LCD 16x2</a:t>
            </a:r>
          </a:p>
        </p:txBody>
      </p:sp>
      <p:sp>
        <p:nvSpPr>
          <p:cNvPr id="178" name="矩形: 圓角 177">
            <a:extLst>
              <a:ext uri="{FF2B5EF4-FFF2-40B4-BE49-F238E27FC236}">
                <a16:creationId xmlns:a16="http://schemas.microsoft.com/office/drawing/2014/main" id="{03F70C76-A34E-40ED-BC88-A9EFC1BC02C4}"/>
              </a:ext>
            </a:extLst>
          </p:cNvPr>
          <p:cNvSpPr>
            <a:spLocks noGrp="1"/>
          </p:cNvSpPr>
          <p:nvPr/>
        </p:nvSpPr>
        <p:spPr>
          <a:xfrm>
            <a:off x="1790700" y="7126389"/>
            <a:ext cx="6286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BA0BD076-9225-477E-BB6F-592E4DF40CE8}"/>
              </a:ext>
            </a:extLst>
          </p:cNvPr>
          <p:cNvSpPr>
            <a:spLocks noGrp="1"/>
          </p:cNvSpPr>
          <p:nvPr/>
        </p:nvSpPr>
        <p:spPr>
          <a:xfrm>
            <a:off x="1943100" y="7202589"/>
            <a:ext cx="323850" cy="209550"/>
          </a:xfrm>
          <a:prstGeom prst="rect">
            <a:avLst/>
          </a:prstGeom>
          <a:solidFill>
            <a:srgbClr val="1F2937"/>
          </a:solidFill>
          <a:ln w="762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F25FC4A-A401-4225-91AA-3C153864A04A}"/>
              </a:ext>
            </a:extLst>
          </p:cNvPr>
          <p:cNvSpPr>
            <a:spLocks noGrp="1"/>
          </p:cNvSpPr>
          <p:nvPr/>
        </p:nvSpPr>
        <p:spPr>
          <a:xfrm>
            <a:off x="1741555" y="7398780"/>
            <a:ext cx="742950" cy="1679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8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7-Segment HEX</a:t>
            </a:r>
          </a:p>
        </p:txBody>
      </p:sp>
      <p:sp>
        <p:nvSpPr>
          <p:cNvPr id="182" name="矩形: 圓角 181">
            <a:extLst>
              <a:ext uri="{FF2B5EF4-FFF2-40B4-BE49-F238E27FC236}">
                <a16:creationId xmlns:a16="http://schemas.microsoft.com/office/drawing/2014/main" id="{1244C507-CF90-4CF7-94A8-BAD0DC1EF306}"/>
              </a:ext>
            </a:extLst>
          </p:cNvPr>
          <p:cNvSpPr>
            <a:spLocks noGrp="1"/>
          </p:cNvSpPr>
          <p:nvPr/>
        </p:nvSpPr>
        <p:spPr>
          <a:xfrm>
            <a:off x="2514600" y="7126389"/>
            <a:ext cx="628650" cy="55245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82BD2039-8BDE-4B7D-81A9-B70B48D07F15}"/>
              </a:ext>
            </a:extLst>
          </p:cNvPr>
          <p:cNvSpPr>
            <a:spLocks noGrp="1"/>
          </p:cNvSpPr>
          <p:nvPr/>
        </p:nvSpPr>
        <p:spPr>
          <a:xfrm>
            <a:off x="2557613" y="7221469"/>
            <a:ext cx="5524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LEDR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F9443591-3AA5-49B5-BC1E-909F20C90381}"/>
              </a:ext>
            </a:extLst>
          </p:cNvPr>
          <p:cNvSpPr>
            <a:spLocks noGrp="1"/>
          </p:cNvSpPr>
          <p:nvPr/>
        </p:nvSpPr>
        <p:spPr>
          <a:xfrm>
            <a:off x="2558646" y="7378710"/>
            <a:ext cx="5524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LEDG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D10876DF-5078-4D45-9B88-FBE1E38B0BF5}"/>
              </a:ext>
            </a:extLst>
          </p:cNvPr>
          <p:cNvSpPr>
            <a:spLocks noGrp="1"/>
          </p:cNvSpPr>
          <p:nvPr/>
        </p:nvSpPr>
        <p:spPr>
          <a:xfrm>
            <a:off x="419100" y="7695187"/>
            <a:ext cx="37147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Show raw/calibrated values, H2 (75/45), keys, platform center, status</a:t>
            </a:r>
          </a:p>
        </p:txBody>
      </p:sp>
      <p:sp>
        <p:nvSpPr>
          <p:cNvPr id="191" name="矩形: 圓角 190">
            <a:extLst>
              <a:ext uri="{FF2B5EF4-FFF2-40B4-BE49-F238E27FC236}">
                <a16:creationId xmlns:a16="http://schemas.microsoft.com/office/drawing/2014/main" id="{7CC9E20D-67C2-44B0-94D8-0C2AAF07C04F}"/>
              </a:ext>
            </a:extLst>
          </p:cNvPr>
          <p:cNvSpPr>
            <a:spLocks noGrp="1"/>
          </p:cNvSpPr>
          <p:nvPr/>
        </p:nvSpPr>
        <p:spPr>
          <a:xfrm>
            <a:off x="3909328" y="6840639"/>
            <a:ext cx="2714625" cy="1674712"/>
          </a:xfrm>
          <a:prstGeom prst="roundRect">
            <a:avLst>
              <a:gd name="adj" fmla="val 4464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7BF1C91D-BF12-4374-9F99-2B7747681B2A}"/>
              </a:ext>
            </a:extLst>
          </p:cNvPr>
          <p:cNvSpPr>
            <a:spLocks noGrp="1"/>
          </p:cNvSpPr>
          <p:nvPr/>
        </p:nvSpPr>
        <p:spPr>
          <a:xfrm>
            <a:off x="3956953" y="6888264"/>
            <a:ext cx="261937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0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FPGA External Interface Summary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655821D4-D998-46EF-8CAF-60E470C06B4D}"/>
              </a:ext>
            </a:extLst>
          </p:cNvPr>
          <p:cNvSpPr>
            <a:spLocks noGrp="1"/>
          </p:cNvSpPr>
          <p:nvPr/>
        </p:nvSpPr>
        <p:spPr>
          <a:xfrm>
            <a:off x="4090303" y="7145439"/>
            <a:ext cx="2943000" cy="15278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I2C-like (GPIO):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SCL1/SDA1 -&gt; Sensor #1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SCL2/SDA2 -&gt; Sensor #2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 SCL3/SDA3 -&gt; Sensor #3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Buttons: GPIO[11] (75Hz), GPIO[12] (45Hz)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Stepper Driver: GPIO[8] STEP, GPIO[9] DIR, GPIO[10] ENABLE_N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UART: RS232 TXD -&gt; PC (115200 bps)</a:t>
            </a:r>
          </a:p>
        </p:txBody>
      </p:sp>
      <p:sp>
        <p:nvSpPr>
          <p:cNvPr id="194" name="矩形: 圓角 193">
            <a:extLst>
              <a:ext uri="{FF2B5EF4-FFF2-40B4-BE49-F238E27FC236}">
                <a16:creationId xmlns:a16="http://schemas.microsoft.com/office/drawing/2014/main" id="{D7C2B4BB-3B07-4E54-A227-B952B06F74BD}"/>
              </a:ext>
            </a:extLst>
          </p:cNvPr>
          <p:cNvSpPr>
            <a:spLocks noGrp="1"/>
          </p:cNvSpPr>
          <p:nvPr/>
        </p:nvSpPr>
        <p:spPr>
          <a:xfrm>
            <a:off x="6700155" y="6867412"/>
            <a:ext cx="2476500" cy="1066800"/>
          </a:xfrm>
          <a:prstGeom prst="roundRect">
            <a:avLst>
              <a:gd name="adj" fmla="val 4464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CB3C75E1-E5EE-49DF-BF0F-AE51F23214DF}"/>
              </a:ext>
            </a:extLst>
          </p:cNvPr>
          <p:cNvSpPr>
            <a:spLocks noGrp="1"/>
          </p:cNvSpPr>
          <p:nvPr/>
        </p:nvSpPr>
        <p:spPr>
          <a:xfrm>
            <a:off x="6747780" y="6915037"/>
            <a:ext cx="2381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0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LUT Memory Files 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84E54260-B68C-4943-9222-3E48F9481285}"/>
              </a:ext>
            </a:extLst>
          </p:cNvPr>
          <p:cNvSpPr>
            <a:spLocks noGrp="1"/>
          </p:cNvSpPr>
          <p:nvPr/>
        </p:nvSpPr>
        <p:spPr>
          <a:xfrm>
            <a:off x="6890655" y="7172212"/>
            <a:ext cx="19526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Stored in FPGA ROM via .mem files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h75_lut_3sensor.</a:t>
            </a:r>
          </a:p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h45_lut_3sensor.mem</a:t>
            </a:r>
          </a:p>
        </p:txBody>
      </p:sp>
      <p:sp>
        <p:nvSpPr>
          <p:cNvPr id="197" name="矩形: 圓角 196">
            <a:extLst>
              <a:ext uri="{FF2B5EF4-FFF2-40B4-BE49-F238E27FC236}">
                <a16:creationId xmlns:a16="http://schemas.microsoft.com/office/drawing/2014/main" id="{60B4D791-F8C2-4601-8A22-428F0FE11B1C}"/>
              </a:ext>
            </a:extLst>
          </p:cNvPr>
          <p:cNvSpPr>
            <a:spLocks noGrp="1"/>
          </p:cNvSpPr>
          <p:nvPr/>
        </p:nvSpPr>
        <p:spPr>
          <a:xfrm>
            <a:off x="9462403" y="6855182"/>
            <a:ext cx="2702847" cy="1066800"/>
          </a:xfrm>
          <a:prstGeom prst="roundRect">
            <a:avLst>
              <a:gd name="adj" fmla="val 4464"/>
            </a:avLst>
          </a:prstGeom>
          <a:solidFill>
            <a:srgbClr val="F8FAFC"/>
          </a:solidFill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DE754BB3-C2F4-4657-B2C7-225AEC4B640B}"/>
              </a:ext>
            </a:extLst>
          </p:cNvPr>
          <p:cNvSpPr>
            <a:spLocks noGrp="1"/>
          </p:cNvSpPr>
          <p:nvPr/>
        </p:nvSpPr>
        <p:spPr>
          <a:xfrm>
            <a:off x="9510030" y="6893394"/>
            <a:ext cx="1809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0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Legend</a:t>
            </a:r>
          </a:p>
        </p:txBody>
      </p:sp>
      <p:sp>
        <p:nvSpPr>
          <p:cNvPr id="199" name="直線接點 198">
            <a:extLst>
              <a:ext uri="{FF2B5EF4-FFF2-40B4-BE49-F238E27FC236}">
                <a16:creationId xmlns:a16="http://schemas.microsoft.com/office/drawing/2014/main" id="{D4D02EA5-2C20-409F-88CF-A70CC08B74CD}"/>
              </a:ext>
            </a:extLst>
          </p:cNvPr>
          <p:cNvSpPr>
            <a:spLocks noGrp="1"/>
          </p:cNvSpPr>
          <p:nvPr/>
        </p:nvSpPr>
        <p:spPr>
          <a:xfrm>
            <a:off x="9652905" y="7220908"/>
            <a:ext cx="361950" cy="0"/>
          </a:xfrm>
          <a:prstGeom prst="line">
            <a:avLst/>
          </a:prstGeom>
          <a:ln w="1333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AC688147-8B94-4322-B441-434A08094732}"/>
              </a:ext>
            </a:extLst>
          </p:cNvPr>
          <p:cNvSpPr>
            <a:spLocks noGrp="1"/>
          </p:cNvSpPr>
          <p:nvPr/>
        </p:nvSpPr>
        <p:spPr>
          <a:xfrm>
            <a:off x="10050586" y="7093419"/>
            <a:ext cx="2028092" cy="1348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</a:t>
            </a:r>
            <a:r>
              <a:rPr lang="en-US"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Path </a:t>
            </a:r>
            <a:endParaRPr sz="1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1" name="直線接點 200">
            <a:extLst>
              <a:ext uri="{FF2B5EF4-FFF2-40B4-BE49-F238E27FC236}">
                <a16:creationId xmlns:a16="http://schemas.microsoft.com/office/drawing/2014/main" id="{58F25320-615E-43F1-B494-9A887E6CCC10}"/>
              </a:ext>
            </a:extLst>
          </p:cNvPr>
          <p:cNvSpPr>
            <a:spLocks noGrp="1"/>
          </p:cNvSpPr>
          <p:nvPr/>
        </p:nvSpPr>
        <p:spPr>
          <a:xfrm>
            <a:off x="9652905" y="7392358"/>
            <a:ext cx="361950" cy="0"/>
          </a:xfrm>
          <a:prstGeom prst="line">
            <a:avLst/>
          </a:prstGeom>
          <a:ln w="1333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50ECEB2C-2274-4CC6-966D-FB1FE2F03EB8}"/>
              </a:ext>
            </a:extLst>
          </p:cNvPr>
          <p:cNvSpPr>
            <a:spLocks noGrp="1"/>
          </p:cNvSpPr>
          <p:nvPr/>
        </p:nvSpPr>
        <p:spPr>
          <a:xfrm>
            <a:off x="10034671" y="7276731"/>
            <a:ext cx="1264445" cy="85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Control / Timing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A089CA76-AD23-4BFB-8004-2F2C3094EA52}"/>
              </a:ext>
            </a:extLst>
          </p:cNvPr>
          <p:cNvSpPr>
            <a:spLocks noGrp="1"/>
          </p:cNvSpPr>
          <p:nvPr/>
        </p:nvSpPr>
        <p:spPr>
          <a:xfrm>
            <a:off x="10050586" y="7436319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5" name="直線接點 204">
            <a:extLst>
              <a:ext uri="{FF2B5EF4-FFF2-40B4-BE49-F238E27FC236}">
                <a16:creationId xmlns:a16="http://schemas.microsoft.com/office/drawing/2014/main" id="{58D4BCBA-231D-4020-A137-BDCEC5946336}"/>
              </a:ext>
            </a:extLst>
          </p:cNvPr>
          <p:cNvSpPr>
            <a:spLocks noGrp="1"/>
          </p:cNvSpPr>
          <p:nvPr/>
        </p:nvSpPr>
        <p:spPr>
          <a:xfrm>
            <a:off x="9652905" y="7735258"/>
            <a:ext cx="361950" cy="0"/>
          </a:xfrm>
          <a:prstGeom prst="line">
            <a:avLst/>
          </a:prstGeom>
          <a:ln w="1333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4F0D5A95-54CA-4B44-8B0C-7AF102AFE6DD}"/>
              </a:ext>
            </a:extLst>
          </p:cNvPr>
          <p:cNvSpPr>
            <a:spLocks noGrp="1"/>
          </p:cNvSpPr>
          <p:nvPr/>
        </p:nvSpPr>
        <p:spPr>
          <a:xfrm>
            <a:off x="10050586" y="7607769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UART</a:t>
            </a:r>
          </a:p>
        </p:txBody>
      </p:sp>
      <p:sp>
        <p:nvSpPr>
          <p:cNvPr id="207" name="直線接點 206">
            <a:extLst>
              <a:ext uri="{FF2B5EF4-FFF2-40B4-BE49-F238E27FC236}">
                <a16:creationId xmlns:a16="http://schemas.microsoft.com/office/drawing/2014/main" id="{F55CAC3E-90CA-4937-B7AC-787943BB3486}"/>
              </a:ext>
            </a:extLst>
          </p:cNvPr>
          <p:cNvSpPr>
            <a:spLocks noGrp="1"/>
          </p:cNvSpPr>
          <p:nvPr/>
        </p:nvSpPr>
        <p:spPr>
          <a:xfrm>
            <a:off x="9654808" y="7579750"/>
            <a:ext cx="361950" cy="0"/>
          </a:xfrm>
          <a:prstGeom prst="line">
            <a:avLst/>
          </a:prstGeom>
          <a:ln w="1333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9C576EB4-4FD2-4334-9207-92540871DEDF}"/>
              </a:ext>
            </a:extLst>
          </p:cNvPr>
          <p:cNvSpPr>
            <a:spLocks noGrp="1"/>
          </p:cNvSpPr>
          <p:nvPr/>
        </p:nvSpPr>
        <p:spPr>
          <a:xfrm>
            <a:off x="10043653" y="7442630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Motor Control</a:t>
            </a:r>
          </a:p>
        </p:txBody>
      </p:sp>
      <p:sp>
        <p:nvSpPr>
          <p:cNvPr id="209" name="直線接點 208">
            <a:extLst>
              <a:ext uri="{FF2B5EF4-FFF2-40B4-BE49-F238E27FC236}">
                <a16:creationId xmlns:a16="http://schemas.microsoft.com/office/drawing/2014/main" id="{2FBF8341-EC8B-4F66-8552-DD4FC9AE450A}"/>
              </a:ext>
            </a:extLst>
          </p:cNvPr>
          <p:cNvSpPr>
            <a:spLocks noGrp="1"/>
          </p:cNvSpPr>
          <p:nvPr/>
        </p:nvSpPr>
        <p:spPr>
          <a:xfrm>
            <a:off x="10964976" y="7208603"/>
            <a:ext cx="361950" cy="0"/>
          </a:xfrm>
          <a:prstGeom prst="line">
            <a:avLst/>
          </a:prstGeom>
          <a:ln w="1333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 sz="4000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224B00A8-1244-41BE-A872-6CE21FEAB128}"/>
              </a:ext>
            </a:extLst>
          </p:cNvPr>
          <p:cNvSpPr>
            <a:spLocks noGrp="1"/>
          </p:cNvSpPr>
          <p:nvPr/>
        </p:nvSpPr>
        <p:spPr>
          <a:xfrm>
            <a:off x="11372168" y="7097188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7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Power / Mechanical</a:t>
            </a:r>
          </a:p>
        </p:txBody>
      </p:sp>
      <p:cxnSp>
        <p:nvCxnSpPr>
          <p:cNvPr id="470" name="直線單箭頭接點 469"/>
          <p:cNvCxnSpPr>
            <a:cxnSpLocks/>
            <a:stCxn id="33" idx="3"/>
            <a:endCxn id="36" idx="1"/>
          </p:cNvCxnSpPr>
          <p:nvPr/>
        </p:nvCxnSpPr>
        <p:spPr>
          <a:xfrm>
            <a:off x="4135034" y="1554689"/>
            <a:ext cx="198841" cy="7411"/>
          </a:xfrm>
          <a:prstGeom prst="straightConnector1">
            <a:avLst/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cxnSp>
        <p:nvCxnSpPr>
          <p:cNvPr id="471" name="接點: 肘形 470"/>
          <p:cNvCxnSpPr>
            <a:cxnSpLocks/>
            <a:stCxn id="36" idx="3"/>
            <a:endCxn id="44" idx="1"/>
          </p:cNvCxnSpPr>
          <p:nvPr/>
        </p:nvCxnSpPr>
        <p:spPr>
          <a:xfrm flipV="1">
            <a:off x="5267325" y="1561877"/>
            <a:ext cx="523875" cy="223"/>
          </a:xfrm>
          <a:prstGeom prst="bentConnector3">
            <a:avLst>
              <a:gd name="adj1" fmla="val 50000"/>
            </a:avLst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19" name="矩形 218">
            <a:extLst>
              <a:ext uri="{FF2B5EF4-FFF2-40B4-BE49-F238E27FC236}">
                <a16:creationId xmlns:a16="http://schemas.microsoft.com/office/drawing/2014/main" id="{F56DBEA3-F582-48E2-9163-34D41A5D7004}"/>
              </a:ext>
            </a:extLst>
          </p:cNvPr>
          <p:cNvSpPr>
            <a:spLocks noGrp="1"/>
          </p:cNvSpPr>
          <p:nvPr/>
        </p:nvSpPr>
        <p:spPr>
          <a:xfrm>
            <a:off x="5276850" y="1595804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cxnSp>
        <p:nvCxnSpPr>
          <p:cNvPr id="473" name="直線單箭頭接點 472"/>
          <p:cNvCxnSpPr>
            <a:cxnSpLocks/>
            <a:stCxn id="44" idx="3"/>
          </p:cNvCxnSpPr>
          <p:nvPr/>
        </p:nvCxnSpPr>
        <p:spPr>
          <a:xfrm>
            <a:off x="7162800" y="1561877"/>
            <a:ext cx="150029" cy="13974"/>
          </a:xfrm>
          <a:prstGeom prst="straightConnector1">
            <a:avLst/>
          </a:prstGeom>
          <a:ln w="11906">
            <a:solidFill>
              <a:srgbClr val="0070C0"/>
            </a:solidFill>
            <a:prstDash val="solid"/>
            <a:tailEnd type="arrow" w="sm" len="sm"/>
          </a:ln>
        </p:spPr>
      </p:cxnSp>
      <p:cxnSp>
        <p:nvCxnSpPr>
          <p:cNvPr id="474" name="直線單箭頭接點 473"/>
          <p:cNvCxnSpPr>
            <a:cxnSpLocks/>
            <a:stCxn id="50" idx="3"/>
            <a:endCxn id="55" idx="1"/>
          </p:cNvCxnSpPr>
          <p:nvPr/>
        </p:nvCxnSpPr>
        <p:spPr>
          <a:xfrm flipV="1">
            <a:off x="8286750" y="1436978"/>
            <a:ext cx="487137" cy="4114"/>
          </a:xfrm>
          <a:prstGeom prst="straightConnector1">
            <a:avLst/>
          </a:prstGeom>
          <a:ln w="11906">
            <a:solidFill>
              <a:srgbClr val="0070C0"/>
            </a:solidFill>
            <a:prstDash val="solid"/>
            <a:tailEnd type="arrow" w="sm" len="sm"/>
          </a:ln>
        </p:spPr>
      </p:cxnSp>
      <p:sp>
        <p:nvSpPr>
          <p:cNvPr id="222" name="矩形 221">
            <a:extLst>
              <a:ext uri="{FF2B5EF4-FFF2-40B4-BE49-F238E27FC236}">
                <a16:creationId xmlns:a16="http://schemas.microsoft.com/office/drawing/2014/main" id="{3172E668-3EE1-4C52-90F3-A5C4219ED41D}"/>
              </a:ext>
            </a:extLst>
          </p:cNvPr>
          <p:cNvSpPr>
            <a:spLocks noGrp="1"/>
          </p:cNvSpPr>
          <p:nvPr/>
        </p:nvSpPr>
        <p:spPr>
          <a:xfrm>
            <a:off x="8240337" y="1492268"/>
            <a:ext cx="55245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</a:rPr>
              <a:t>coeff</a:t>
            </a:r>
            <a:r>
              <a:rPr sz="10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cxnSp>
        <p:nvCxnSpPr>
          <p:cNvPr id="476" name="直線單箭頭接點 475"/>
          <p:cNvCxnSpPr>
            <a:cxnSpLocks/>
            <a:stCxn id="55" idx="2"/>
            <a:endCxn id="58" idx="0"/>
          </p:cNvCxnSpPr>
          <p:nvPr/>
        </p:nvCxnSpPr>
        <p:spPr>
          <a:xfrm>
            <a:off x="9450162" y="1665578"/>
            <a:ext cx="0" cy="182272"/>
          </a:xfrm>
          <a:prstGeom prst="straightConnector1">
            <a:avLst/>
          </a:prstGeom>
          <a:ln w="11906">
            <a:solidFill>
              <a:srgbClr val="F97316"/>
            </a:solidFill>
            <a:prstDash val="solid"/>
            <a:tailEnd type="arrow" w="sm" len="sm"/>
          </a:ln>
        </p:spPr>
      </p:cxnSp>
      <p:cxnSp>
        <p:nvCxnSpPr>
          <p:cNvPr id="477" name="接點: 肘形 476"/>
          <p:cNvCxnSpPr>
            <a:cxnSpLocks/>
          </p:cNvCxnSpPr>
          <p:nvPr/>
        </p:nvCxnSpPr>
        <p:spPr>
          <a:xfrm rot="5400000">
            <a:off x="8644868" y="2096574"/>
            <a:ext cx="442263" cy="1070350"/>
          </a:xfrm>
          <a:prstGeom prst="bentConnector3">
            <a:avLst>
              <a:gd name="adj1" fmla="val 50000"/>
            </a:avLst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25" name="矩形 224">
            <a:extLst>
              <a:ext uri="{FF2B5EF4-FFF2-40B4-BE49-F238E27FC236}">
                <a16:creationId xmlns:a16="http://schemas.microsoft.com/office/drawing/2014/main" id="{BE685C7B-E7C4-4BCC-B450-0D52A63485DB}"/>
              </a:ext>
            </a:extLst>
          </p:cNvPr>
          <p:cNvSpPr>
            <a:spLocks noGrp="1"/>
          </p:cNvSpPr>
          <p:nvPr/>
        </p:nvSpPr>
        <p:spPr>
          <a:xfrm>
            <a:off x="8304448" y="2601143"/>
            <a:ext cx="1307236" cy="2844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</a:t>
            </a: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alibrated</a:t>
            </a:r>
            <a:r>
              <a:rPr lang="zh-TW" altLang="en-US"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field</a:t>
            </a:r>
          </a:p>
        </p:txBody>
      </p:sp>
      <p:cxnSp>
        <p:nvCxnSpPr>
          <p:cNvPr id="479" name="直線單箭頭接點 478"/>
          <p:cNvCxnSpPr>
            <a:cxnSpLocks/>
            <a:stCxn id="63" idx="2"/>
            <a:endCxn id="66" idx="0"/>
          </p:cNvCxnSpPr>
          <p:nvPr/>
        </p:nvCxnSpPr>
        <p:spPr>
          <a:xfrm flipH="1">
            <a:off x="10953750" y="1485900"/>
            <a:ext cx="1" cy="76200"/>
          </a:xfrm>
          <a:prstGeom prst="straightConnector1">
            <a:avLst/>
          </a:prstGeom>
          <a:ln w="11906">
            <a:solidFill>
              <a:srgbClr val="111827"/>
            </a:solidFill>
            <a:prstDash val="solid"/>
            <a:tailEnd type="arrow" w="sm" len="sm"/>
          </a:ln>
        </p:spPr>
      </p:cxnSp>
      <p:cxnSp>
        <p:nvCxnSpPr>
          <p:cNvPr id="480" name="直線單箭頭接點 479"/>
          <p:cNvCxnSpPr>
            <a:cxnSpLocks/>
            <a:stCxn id="66" idx="2"/>
            <a:endCxn id="68" idx="0"/>
          </p:cNvCxnSpPr>
          <p:nvPr/>
        </p:nvCxnSpPr>
        <p:spPr>
          <a:xfrm flipH="1">
            <a:off x="10953749" y="2019300"/>
            <a:ext cx="1" cy="76200"/>
          </a:xfrm>
          <a:prstGeom prst="straightConnector1">
            <a:avLst/>
          </a:prstGeom>
          <a:ln w="11906">
            <a:solidFill>
              <a:srgbClr val="111827"/>
            </a:solidFill>
            <a:prstDash val="solid"/>
            <a:tailEnd type="arrow" w="sm" len="sm"/>
          </a:ln>
        </p:spPr>
      </p:cxnSp>
      <p:cxnSp>
        <p:nvCxnSpPr>
          <p:cNvPr id="481" name="接點: 肘形 480"/>
          <p:cNvCxnSpPr>
            <a:cxnSpLocks/>
            <a:stCxn id="68" idx="2"/>
            <a:endCxn id="85" idx="0"/>
          </p:cNvCxnSpPr>
          <p:nvPr/>
        </p:nvCxnSpPr>
        <p:spPr>
          <a:xfrm rot="5400000">
            <a:off x="7296262" y="-876411"/>
            <a:ext cx="361727" cy="6953249"/>
          </a:xfrm>
          <a:prstGeom prst="bentConnector3">
            <a:avLst>
              <a:gd name="adj1" fmla="val 30555"/>
            </a:avLst>
          </a:prstGeom>
          <a:ln w="11906">
            <a:solidFill>
              <a:srgbClr val="111827"/>
            </a:solidFill>
            <a:prstDash val="dash"/>
            <a:tailEnd type="arrow" w="sm" len="sm"/>
          </a:ln>
        </p:spPr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2F31BF46-A9EB-43B0-A23D-A00FFB830E5F}"/>
              </a:ext>
            </a:extLst>
          </p:cNvPr>
          <p:cNvSpPr>
            <a:spLocks noGrp="1"/>
          </p:cNvSpPr>
          <p:nvPr/>
        </p:nvSpPr>
        <p:spPr>
          <a:xfrm>
            <a:off x="9353748" y="2522086"/>
            <a:ext cx="108089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sample_tick</a:t>
            </a:r>
          </a:p>
        </p:txBody>
      </p:sp>
      <p:cxnSp>
        <p:nvCxnSpPr>
          <p:cNvPr id="483" name="直線單箭頭接點 482"/>
          <p:cNvCxnSpPr>
            <a:cxnSpLocks/>
            <a:stCxn id="85" idx="3"/>
            <a:endCxn id="99" idx="1"/>
          </p:cNvCxnSpPr>
          <p:nvPr/>
        </p:nvCxnSpPr>
        <p:spPr>
          <a:xfrm>
            <a:off x="5286375" y="3590702"/>
            <a:ext cx="1206125" cy="5745"/>
          </a:xfrm>
          <a:prstGeom prst="straightConnector1">
            <a:avLst/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31" name="矩形 230">
            <a:extLst>
              <a:ext uri="{FF2B5EF4-FFF2-40B4-BE49-F238E27FC236}">
                <a16:creationId xmlns:a16="http://schemas.microsoft.com/office/drawing/2014/main" id="{5A675EB2-3AA5-40C2-8D5D-162FBEA2B82B}"/>
              </a:ext>
            </a:extLst>
          </p:cNvPr>
          <p:cNvSpPr>
            <a:spLocks noGrp="1"/>
          </p:cNvSpPr>
          <p:nvPr/>
        </p:nvSpPr>
        <p:spPr>
          <a:xfrm>
            <a:off x="5362574" y="3607269"/>
            <a:ext cx="1006099" cy="33337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pPr algn="ctr"/>
            <a:r>
              <a:rPr sz="1000" b="1">
                <a:solidFill>
                  <a:srgbClr val="2563EB"/>
                </a:solidFill>
                <a:latin typeface="Aptos"/>
              </a:rPr>
              <a:t>sin/cos</a:t>
            </a:r>
            <a:r>
              <a:rPr lang="en-US" sz="1000" b="1">
                <a:solidFill>
                  <a:srgbClr val="2563EB"/>
                </a:solidFill>
                <a:latin typeface="Aptos"/>
              </a:rPr>
              <a:t> </a:t>
            </a:r>
            <a:r>
              <a:rPr sz="1000" b="1">
                <a:solidFill>
                  <a:srgbClr val="2563EB"/>
                </a:solidFill>
                <a:latin typeface="Aptos"/>
              </a:rPr>
              <a:t>q15</a:t>
            </a:r>
          </a:p>
        </p:txBody>
      </p:sp>
      <p:cxnSp>
        <p:nvCxnSpPr>
          <p:cNvPr id="485" name="接點: 肘形 484"/>
          <p:cNvCxnSpPr>
            <a:cxnSpLocks/>
            <a:stCxn id="99" idx="2"/>
            <a:endCxn id="113" idx="0"/>
          </p:cNvCxnSpPr>
          <p:nvPr/>
        </p:nvCxnSpPr>
        <p:spPr>
          <a:xfrm rot="5400000">
            <a:off x="5855606" y="2211081"/>
            <a:ext cx="335970" cy="4614468"/>
          </a:xfrm>
          <a:prstGeom prst="bentConnector3">
            <a:avLst>
              <a:gd name="adj1" fmla="val 50000"/>
            </a:avLst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33" name="矩形 232">
            <a:extLst>
              <a:ext uri="{FF2B5EF4-FFF2-40B4-BE49-F238E27FC236}">
                <a16:creationId xmlns:a16="http://schemas.microsoft.com/office/drawing/2014/main" id="{149DF6CF-232A-4731-9D52-1EB334F64357}"/>
              </a:ext>
            </a:extLst>
          </p:cNvPr>
          <p:cNvSpPr>
            <a:spLocks noGrp="1"/>
          </p:cNvSpPr>
          <p:nvPr/>
        </p:nvSpPr>
        <p:spPr>
          <a:xfrm>
            <a:off x="4524375" y="4474157"/>
            <a:ext cx="8858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H2</a:t>
            </a:r>
            <a:r>
              <a:rPr lang="en-US"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 frames</a:t>
            </a:r>
            <a:endParaRPr sz="10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487" name="直線單箭頭接點 486"/>
          <p:cNvCxnSpPr>
            <a:cxnSpLocks/>
            <a:stCxn id="113" idx="3"/>
            <a:endCxn id="127" idx="1"/>
          </p:cNvCxnSpPr>
          <p:nvPr/>
        </p:nvCxnSpPr>
        <p:spPr>
          <a:xfrm>
            <a:off x="4718088" y="5495925"/>
            <a:ext cx="549237" cy="0"/>
          </a:xfrm>
          <a:prstGeom prst="straightConnector1">
            <a:avLst/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35" name="矩形 234">
            <a:extLst>
              <a:ext uri="{FF2B5EF4-FFF2-40B4-BE49-F238E27FC236}">
                <a16:creationId xmlns:a16="http://schemas.microsoft.com/office/drawing/2014/main" id="{9C5BAC92-5590-41BF-97E8-77C92CF508D7}"/>
              </a:ext>
            </a:extLst>
          </p:cNvPr>
          <p:cNvSpPr>
            <a:spLocks noGrp="1"/>
          </p:cNvSpPr>
          <p:nvPr/>
        </p:nvSpPr>
        <p:spPr>
          <a:xfrm>
            <a:off x="4601590" y="5210175"/>
            <a:ext cx="734270" cy="153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avg_H2</a:t>
            </a:r>
          </a:p>
        </p:txBody>
      </p:sp>
      <p:cxnSp>
        <p:nvCxnSpPr>
          <p:cNvPr id="489" name="直線單箭頭接點 488"/>
          <p:cNvCxnSpPr>
            <a:cxnSpLocks/>
            <a:stCxn id="127" idx="3"/>
            <a:endCxn id="144" idx="1"/>
          </p:cNvCxnSpPr>
          <p:nvPr/>
        </p:nvCxnSpPr>
        <p:spPr>
          <a:xfrm>
            <a:off x="8115977" y="5495925"/>
            <a:ext cx="485097" cy="7045"/>
          </a:xfrm>
          <a:prstGeom prst="straightConnector1">
            <a:avLst/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237" name="矩形 236">
            <a:extLst>
              <a:ext uri="{FF2B5EF4-FFF2-40B4-BE49-F238E27FC236}">
                <a16:creationId xmlns:a16="http://schemas.microsoft.com/office/drawing/2014/main" id="{99347BB7-3EE9-4A8E-A146-53B2D173F2FB}"/>
              </a:ext>
            </a:extLst>
          </p:cNvPr>
          <p:cNvSpPr>
            <a:spLocks noGrp="1"/>
          </p:cNvSpPr>
          <p:nvPr/>
        </p:nvSpPr>
        <p:spPr>
          <a:xfrm>
            <a:off x="8080047" y="5105400"/>
            <a:ext cx="571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key75/key45</a:t>
            </a:r>
          </a:p>
        </p:txBody>
      </p:sp>
      <p:cxnSp>
        <p:nvCxnSpPr>
          <p:cNvPr id="491" name="直線單箭頭接點 490"/>
          <p:cNvCxnSpPr>
            <a:cxnSpLocks/>
            <a:stCxn id="144" idx="3"/>
            <a:endCxn id="147" idx="1"/>
          </p:cNvCxnSpPr>
          <p:nvPr/>
        </p:nvCxnSpPr>
        <p:spPr>
          <a:xfrm flipV="1">
            <a:off x="10286999" y="5501368"/>
            <a:ext cx="209551" cy="1602"/>
          </a:xfrm>
          <a:prstGeom prst="straightConnector1">
            <a:avLst/>
          </a:prstGeom>
          <a:ln w="11906">
            <a:solidFill>
              <a:srgbClr val="111827"/>
            </a:solidFill>
            <a:prstDash val="solid"/>
            <a:tailEnd type="arrow" w="sm" len="sm"/>
          </a:ln>
        </p:spPr>
      </p:cxnSp>
      <p:cxnSp>
        <p:nvCxnSpPr>
          <p:cNvPr id="492" name="直線單箭頭接點 491"/>
          <p:cNvCxnSpPr>
            <a:cxnSpLocks/>
            <a:stCxn id="144" idx="3"/>
            <a:endCxn id="147" idx="1"/>
          </p:cNvCxnSpPr>
          <p:nvPr/>
        </p:nvCxnSpPr>
        <p:spPr>
          <a:xfrm flipV="1">
            <a:off x="10286999" y="5501368"/>
            <a:ext cx="209551" cy="1602"/>
          </a:xfrm>
          <a:prstGeom prst="straightConnector1">
            <a:avLst/>
          </a:prstGeom>
          <a:ln w="11906">
            <a:solidFill>
              <a:srgbClr val="111827"/>
            </a:solidFill>
            <a:prstDash val="solid"/>
            <a:tailEnd type="arrow" w="sm" len="sm"/>
          </a:ln>
        </p:spPr>
      </p:cxnSp>
      <p:cxnSp>
        <p:nvCxnSpPr>
          <p:cNvPr id="493" name="接點: 肘形 492"/>
          <p:cNvCxnSpPr>
            <a:cxnSpLocks/>
            <a:stCxn id="147" idx="3"/>
            <a:endCxn id="160" idx="1"/>
          </p:cNvCxnSpPr>
          <p:nvPr/>
        </p:nvCxnSpPr>
        <p:spPr>
          <a:xfrm flipV="1">
            <a:off x="12115800" y="5499834"/>
            <a:ext cx="987837" cy="1534"/>
          </a:xfrm>
          <a:prstGeom prst="bentConnector3">
            <a:avLst>
              <a:gd name="adj1" fmla="val 50000"/>
            </a:avLst>
          </a:prstGeom>
          <a:ln w="11906">
            <a:solidFill>
              <a:srgbClr val="EF4444"/>
            </a:solidFill>
            <a:prstDash val="solid"/>
            <a:tailEnd type="arrow" w="sm" len="sm"/>
          </a:ln>
        </p:spPr>
      </p:cxnSp>
      <p:sp>
        <p:nvSpPr>
          <p:cNvPr id="241" name="矩形 240">
            <a:extLst>
              <a:ext uri="{FF2B5EF4-FFF2-40B4-BE49-F238E27FC236}">
                <a16:creationId xmlns:a16="http://schemas.microsoft.com/office/drawing/2014/main" id="{0D1D76EE-4798-4E2B-B896-5B4AE9A3552F}"/>
              </a:ext>
            </a:extLst>
          </p:cNvPr>
          <p:cNvSpPr>
            <a:spLocks noGrp="1"/>
          </p:cNvSpPr>
          <p:nvPr/>
        </p:nvSpPr>
        <p:spPr>
          <a:xfrm>
            <a:off x="12228071" y="5530475"/>
            <a:ext cx="88227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STEP / DIR</a:t>
            </a:r>
          </a:p>
          <a:p>
            <a:pPr algn="ctr">
              <a:defRPr sz="397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EN</a:t>
            </a:r>
          </a:p>
        </p:txBody>
      </p:sp>
      <p:cxnSp>
        <p:nvCxnSpPr>
          <p:cNvPr id="495" name="直線單箭頭接點 494"/>
          <p:cNvCxnSpPr>
            <a:cxnSpLocks/>
            <a:stCxn id="71" idx="3"/>
          </p:cNvCxnSpPr>
          <p:nvPr/>
        </p:nvCxnSpPr>
        <p:spPr>
          <a:xfrm flipV="1">
            <a:off x="11987213" y="3106130"/>
            <a:ext cx="1155793" cy="6816"/>
          </a:xfrm>
          <a:prstGeom prst="straightConnector1">
            <a:avLst/>
          </a:prstGeom>
          <a:ln w="11906">
            <a:solidFill>
              <a:srgbClr val="F97316"/>
            </a:solidFill>
            <a:prstDash val="solid"/>
            <a:tailEnd type="arrow" w="sm" len="sm"/>
          </a:ln>
        </p:spPr>
      </p:cxnSp>
      <p:sp>
        <p:nvSpPr>
          <p:cNvPr id="243" name="矩形 242">
            <a:extLst>
              <a:ext uri="{FF2B5EF4-FFF2-40B4-BE49-F238E27FC236}">
                <a16:creationId xmlns:a16="http://schemas.microsoft.com/office/drawing/2014/main" id="{1AA70D9C-2149-416A-B1F4-7DF1CFBF662E}"/>
              </a:ext>
            </a:extLst>
          </p:cNvPr>
          <p:cNvSpPr>
            <a:spLocks noGrp="1"/>
          </p:cNvSpPr>
          <p:nvPr/>
        </p:nvSpPr>
        <p:spPr>
          <a:xfrm>
            <a:off x="12101034" y="2857501"/>
            <a:ext cx="103475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UART_TXD</a:t>
            </a:r>
          </a:p>
        </p:txBody>
      </p:sp>
      <p:cxnSp>
        <p:nvCxnSpPr>
          <p:cNvPr id="497" name="直線單箭頭接點 496"/>
          <p:cNvCxnSpPr>
            <a:cxnSpLocks/>
            <a:stCxn id="160" idx="2"/>
            <a:endCxn id="163" idx="0"/>
          </p:cNvCxnSpPr>
          <p:nvPr/>
        </p:nvCxnSpPr>
        <p:spPr>
          <a:xfrm flipH="1">
            <a:off x="13909084" y="6018946"/>
            <a:ext cx="4178" cy="178473"/>
          </a:xfrm>
          <a:prstGeom prst="straightConnector1">
            <a:avLst/>
          </a:prstGeom>
          <a:ln w="11906">
            <a:solidFill>
              <a:srgbClr val="16A34A"/>
            </a:solidFill>
            <a:prstDash val="solid"/>
            <a:tailEnd type="arrow" w="sm" len="sm"/>
          </a:ln>
        </p:spPr>
      </p:cxnSp>
      <p:cxnSp>
        <p:nvCxnSpPr>
          <p:cNvPr id="498" name="直線單箭頭接點 497"/>
          <p:cNvCxnSpPr>
            <a:cxnSpLocks/>
            <a:stCxn id="163" idx="2"/>
            <a:endCxn id="165" idx="0"/>
          </p:cNvCxnSpPr>
          <p:nvPr/>
        </p:nvCxnSpPr>
        <p:spPr>
          <a:xfrm>
            <a:off x="13909084" y="6864169"/>
            <a:ext cx="0" cy="176891"/>
          </a:xfrm>
          <a:prstGeom prst="straightConnector1">
            <a:avLst/>
          </a:prstGeom>
          <a:ln w="11906">
            <a:solidFill>
              <a:srgbClr val="16A34A"/>
            </a:solidFill>
            <a:prstDash val="solid"/>
            <a:tailEnd type="arrow" w="sm" len="sm"/>
          </a:ln>
        </p:spPr>
      </p:cxnSp>
      <p:sp>
        <p:nvSpPr>
          <p:cNvPr id="247" name="矩形 246">
            <a:extLst>
              <a:ext uri="{FF2B5EF4-FFF2-40B4-BE49-F238E27FC236}">
                <a16:creationId xmlns:a16="http://schemas.microsoft.com/office/drawing/2014/main" id="{C1976224-62F4-43A9-9A05-137E64548B5A}"/>
              </a:ext>
            </a:extLst>
          </p:cNvPr>
          <p:cNvSpPr>
            <a:spLocks noGrp="1"/>
          </p:cNvSpPr>
          <p:nvPr/>
        </p:nvSpPr>
        <p:spPr>
          <a:xfrm>
            <a:off x="1911539" y="4045532"/>
            <a:ext cx="723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altLang="zh-TW" sz="10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GPIO[11]</a:t>
            </a:r>
          </a:p>
          <a:p>
            <a:pPr algn="ctr">
              <a:defRPr sz="397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altLang="zh-TW" sz="10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GPIO[12]</a:t>
            </a:r>
          </a:p>
        </p:txBody>
      </p:sp>
      <p:cxnSp>
        <p:nvCxnSpPr>
          <p:cNvPr id="503" name="接點: 肘形 502"/>
          <p:cNvCxnSpPr>
            <a:cxnSpLocks/>
            <a:endCxn id="168" idx="0"/>
          </p:cNvCxnSpPr>
          <p:nvPr/>
        </p:nvCxnSpPr>
        <p:spPr>
          <a:xfrm rot="5400000">
            <a:off x="-193381" y="3932627"/>
            <a:ext cx="5017279" cy="798744"/>
          </a:xfrm>
          <a:prstGeom prst="bentConnector3">
            <a:avLst>
              <a:gd name="adj1" fmla="val 8560"/>
            </a:avLst>
          </a:prstGeom>
          <a:ln w="11906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504" name="接點: 肘形 503"/>
          <p:cNvCxnSpPr>
            <a:cxnSpLocks/>
            <a:stCxn id="138" idx="2"/>
            <a:endCxn id="194" idx="0"/>
          </p:cNvCxnSpPr>
          <p:nvPr/>
        </p:nvCxnSpPr>
        <p:spPr>
          <a:xfrm rot="16200000" flipH="1">
            <a:off x="7040508" y="5969514"/>
            <a:ext cx="585647" cy="1210148"/>
          </a:xfrm>
          <a:prstGeom prst="bentConnector3">
            <a:avLst>
              <a:gd name="adj1" fmla="val 65800"/>
            </a:avLst>
          </a:prstGeom>
          <a:ln w="11906">
            <a:solidFill>
              <a:srgbClr val="64748B"/>
            </a:solidFill>
            <a:prstDash val="dash"/>
            <a:headEnd type="triangle"/>
            <a:tailEnd type="none" w="sm" len="sm"/>
          </a:ln>
        </p:spPr>
      </p:cxnSp>
      <p:sp>
        <p:nvSpPr>
          <p:cNvPr id="252" name="矩形 251">
            <a:extLst>
              <a:ext uri="{FF2B5EF4-FFF2-40B4-BE49-F238E27FC236}">
                <a16:creationId xmlns:a16="http://schemas.microsoft.com/office/drawing/2014/main" id="{B3792736-C1DB-4A16-AE37-9FE08ED16E46}"/>
              </a:ext>
            </a:extLst>
          </p:cNvPr>
          <p:cNvSpPr>
            <a:spLocks noGrp="1"/>
          </p:cNvSpPr>
          <p:nvPr/>
        </p:nvSpPr>
        <p:spPr>
          <a:xfrm>
            <a:off x="6588430" y="6433713"/>
            <a:ext cx="144858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sz="10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LUT</a:t>
            </a:r>
            <a:endParaRPr sz="1000" b="1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450" name="直線單箭頭接點 449">
            <a:extLst>
              <a:ext uri="{FF2B5EF4-FFF2-40B4-BE49-F238E27FC236}">
                <a16:creationId xmlns:a16="http://schemas.microsoft.com/office/drawing/2014/main" id="{097CFAE9-E866-AF37-977A-47A9EBDAFA48}"/>
              </a:ext>
            </a:extLst>
          </p:cNvPr>
          <p:cNvCxnSpPr>
            <a:cxnSpLocks/>
            <a:stCxn id="2" idx="3"/>
            <a:endCxn id="31" idx="1"/>
          </p:cNvCxnSpPr>
          <p:nvPr/>
        </p:nvCxnSpPr>
        <p:spPr>
          <a:xfrm flipV="1">
            <a:off x="2453871" y="1600200"/>
            <a:ext cx="260754" cy="3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矩形 150">
            <a:extLst>
              <a:ext uri="{FF2B5EF4-FFF2-40B4-BE49-F238E27FC236}">
                <a16:creationId xmlns:a16="http://schemas.microsoft.com/office/drawing/2014/main" id="{FB31BD43-3D68-42CC-9BAA-B3574622E050}"/>
              </a:ext>
            </a:extLst>
          </p:cNvPr>
          <p:cNvSpPr>
            <a:spLocks noGrp="1"/>
          </p:cNvSpPr>
          <p:nvPr/>
        </p:nvSpPr>
        <p:spPr>
          <a:xfrm>
            <a:off x="10901728" y="5902624"/>
            <a:ext cx="900761" cy="2622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Step/DIR/EN</a:t>
            </a:r>
          </a:p>
        </p:txBody>
      </p:sp>
      <p:cxnSp>
        <p:nvCxnSpPr>
          <p:cNvPr id="601" name="接點: 肘形 600"/>
          <p:cNvCxnSpPr>
            <a:cxnSpLocks/>
            <a:stCxn id="20" idx="3"/>
            <a:endCxn id="71" idx="2"/>
          </p:cNvCxnSpPr>
          <p:nvPr/>
        </p:nvCxnSpPr>
        <p:spPr>
          <a:xfrm flipV="1">
            <a:off x="1985653" y="3444972"/>
            <a:ext cx="9525310" cy="1012080"/>
          </a:xfrm>
          <a:prstGeom prst="bentConnector2">
            <a:avLst/>
          </a:prstGeom>
          <a:ln w="11906">
            <a:solidFill>
              <a:srgbClr val="64748B"/>
            </a:solidFill>
            <a:prstDash val="dash"/>
            <a:tailEnd type="arrow" w="sm" len="sm"/>
          </a:ln>
        </p:spPr>
      </p:cxnSp>
      <p:cxnSp>
        <p:nvCxnSpPr>
          <p:cNvPr id="615" name="接點: 肘形 614">
            <a:extLst>
              <a:ext uri="{FF2B5EF4-FFF2-40B4-BE49-F238E27FC236}">
                <a16:creationId xmlns:a16="http://schemas.microsoft.com/office/drawing/2014/main" id="{FE0341FE-2F6B-4042-3292-52E89A7BE168}"/>
              </a:ext>
            </a:extLst>
          </p:cNvPr>
          <p:cNvCxnSpPr>
            <a:cxnSpLocks/>
            <a:stCxn id="58" idx="3"/>
            <a:endCxn id="71" idx="1"/>
          </p:cNvCxnSpPr>
          <p:nvPr/>
        </p:nvCxnSpPr>
        <p:spPr>
          <a:xfrm>
            <a:off x="10126437" y="2124075"/>
            <a:ext cx="908276" cy="988871"/>
          </a:xfrm>
          <a:prstGeom prst="bentConnector3">
            <a:avLst>
              <a:gd name="adj1" fmla="val 32023"/>
            </a:avLst>
          </a:prstGeom>
          <a:ln w="11906">
            <a:solidFill>
              <a:srgbClr val="2563EB"/>
            </a:solidFill>
            <a:prstDash val="solid"/>
            <a:tailEnd type="arrow" w="sm" len="sm"/>
          </a:ln>
        </p:spPr>
      </p:cxnSp>
      <p:sp>
        <p:nvSpPr>
          <p:cNvPr id="625" name="矩形 624">
            <a:extLst>
              <a:ext uri="{FF2B5EF4-FFF2-40B4-BE49-F238E27FC236}">
                <a16:creationId xmlns:a16="http://schemas.microsoft.com/office/drawing/2014/main" id="{76A9B56B-3935-F628-DE38-7EFB9F77FE74}"/>
              </a:ext>
            </a:extLst>
          </p:cNvPr>
          <p:cNvSpPr>
            <a:spLocks noGrp="1"/>
          </p:cNvSpPr>
          <p:nvPr/>
        </p:nvSpPr>
        <p:spPr>
          <a:xfrm>
            <a:off x="9960835" y="3105064"/>
            <a:ext cx="1307236" cy="2844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Real time </a:t>
            </a:r>
          </a:p>
          <a:p>
            <a:pPr algn="ctr">
              <a:defRPr sz="397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lang="en-US" sz="10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H2 value</a:t>
            </a:r>
            <a:endParaRPr sz="100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51" name="圖片 650" descr="VGA端子- 維基百科，自由的百科全書">
            <a:extLst>
              <a:ext uri="{FF2B5EF4-FFF2-40B4-BE49-F238E27FC236}">
                <a16:creationId xmlns:a16="http://schemas.microsoft.com/office/drawing/2014/main" id="{175F9F16-B887-88DD-E762-5D824FF2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9" y="7202904"/>
            <a:ext cx="360450" cy="258083"/>
          </a:xfrm>
          <a:prstGeom prst="rect">
            <a:avLst/>
          </a:prstGeom>
        </p:spPr>
      </p:pic>
      <p:pic>
        <p:nvPicPr>
          <p:cNvPr id="652" name="圖片 651" descr="Sensors Modules Lcd 16x2 Display Module | Sensors Modules">
            <a:extLst>
              <a:ext uri="{FF2B5EF4-FFF2-40B4-BE49-F238E27FC236}">
                <a16:creationId xmlns:a16="http://schemas.microsoft.com/office/drawing/2014/main" id="{44724852-BCFA-9FDC-02F8-1A69258E56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69" t="29389" r="20542" b="33461"/>
          <a:stretch>
            <a:fillRect/>
          </a:stretch>
        </p:blipFill>
        <p:spPr>
          <a:xfrm>
            <a:off x="1089020" y="7157356"/>
            <a:ext cx="600099" cy="276416"/>
          </a:xfrm>
          <a:prstGeom prst="rect">
            <a:avLst/>
          </a:prstGeom>
        </p:spPr>
      </p:pic>
      <p:pic>
        <p:nvPicPr>
          <p:cNvPr id="656" name="圖片 655">
            <a:extLst>
              <a:ext uri="{FF2B5EF4-FFF2-40B4-BE49-F238E27FC236}">
                <a16:creationId xmlns:a16="http://schemas.microsoft.com/office/drawing/2014/main" id="{11A9D193-1A95-BBAF-1C25-940C925A2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7622" y="7142757"/>
            <a:ext cx="347492" cy="318230"/>
          </a:xfrm>
          <a:prstGeom prst="rect">
            <a:avLst/>
          </a:prstGeom>
        </p:spPr>
      </p:pic>
      <p:pic>
        <p:nvPicPr>
          <p:cNvPr id="666" name="圖片 665" descr="KPA-2203A 7x7mm 6P無段按鍵開關| 廣華電子">
            <a:extLst>
              <a:ext uri="{FF2B5EF4-FFF2-40B4-BE49-F238E27FC236}">
                <a16:creationId xmlns:a16="http://schemas.microsoft.com/office/drawing/2014/main" id="{5990DABC-BB87-FE30-7879-8672F3DC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56" t="18195" r="49558" b="21870"/>
          <a:stretch>
            <a:fillRect/>
          </a:stretch>
        </p:blipFill>
        <p:spPr>
          <a:xfrm>
            <a:off x="243924" y="4072440"/>
            <a:ext cx="478941" cy="441484"/>
          </a:xfrm>
          <a:prstGeom prst="rect">
            <a:avLst/>
          </a:prstGeom>
        </p:spPr>
      </p:pic>
      <p:pic>
        <p:nvPicPr>
          <p:cNvPr id="668" name="圖片 667" descr="KPA-2203A 7x7mm 6P無段按鍵開關| 廣華電子">
            <a:extLst>
              <a:ext uri="{FF2B5EF4-FFF2-40B4-BE49-F238E27FC236}">
                <a16:creationId xmlns:a16="http://schemas.microsoft.com/office/drawing/2014/main" id="{09C86A59-DB79-913B-B24E-9F00090BED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56" t="18195" r="49558" b="21870"/>
          <a:stretch>
            <a:fillRect/>
          </a:stretch>
        </p:blipFill>
        <p:spPr>
          <a:xfrm>
            <a:off x="246791" y="4612547"/>
            <a:ext cx="478941" cy="441484"/>
          </a:xfrm>
          <a:prstGeom prst="rect">
            <a:avLst/>
          </a:prstGeom>
        </p:spPr>
      </p:pic>
      <p:pic>
        <p:nvPicPr>
          <p:cNvPr id="669" name="圖片 668" descr="The 8 Best Monitors of 2026 | Reviews by Wirecutter">
            <a:extLst>
              <a:ext uri="{FF2B5EF4-FFF2-40B4-BE49-F238E27FC236}">
                <a16:creationId xmlns:a16="http://schemas.microsoft.com/office/drawing/2014/main" id="{E01B5C30-CCE9-BB0B-EC0C-34400B18675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218" t="8175" r="14511" b="4831"/>
          <a:stretch>
            <a:fillRect/>
          </a:stretch>
        </p:blipFill>
        <p:spPr>
          <a:xfrm>
            <a:off x="13676556" y="2396814"/>
            <a:ext cx="687148" cy="551292"/>
          </a:xfrm>
          <a:prstGeom prst="rect">
            <a:avLst/>
          </a:prstGeom>
        </p:spPr>
      </p:pic>
      <p:pic>
        <p:nvPicPr>
          <p:cNvPr id="670" name="圖片 669" descr="QMC5883P 3-Axis Compass Magnetometer Sensor Module 3V-5V - QMC5883PMOD">
            <a:extLst>
              <a:ext uri="{FF2B5EF4-FFF2-40B4-BE49-F238E27FC236}">
                <a16:creationId xmlns:a16="http://schemas.microsoft.com/office/drawing/2014/main" id="{B6D01D1A-2359-D8D1-6E89-726064028E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612" t="16505" r="10627" b="14078"/>
          <a:stretch>
            <a:fillRect/>
          </a:stretch>
        </p:blipFill>
        <p:spPr>
          <a:xfrm>
            <a:off x="161925" y="1495281"/>
            <a:ext cx="695325" cy="62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001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690</Words>
  <Application>Microsoft Office PowerPoint</Application>
  <DocSecurity>0</DocSecurity>
  <PresentationFormat>自訂</PresentationFormat>
  <Paragraphs>154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Calibri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韓裕民</cp:lastModifiedBy>
  <cp:revision>4</cp:revision>
  <dcterms:created xsi:type="dcterms:W3CDTF">2026-06-19T13:46:38Z</dcterms:created>
  <dcterms:modified xsi:type="dcterms:W3CDTF">2026-06-19T15:09:10Z</dcterms:modified>
</cp:coreProperties>
</file>